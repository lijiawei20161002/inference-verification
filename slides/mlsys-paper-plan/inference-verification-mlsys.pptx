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实验已走到 serving 机制层。</a:t>
            </a:r>
          </a:p>
          <a:p>
            <a:r>
              <a:t>论文应回答：推理验证何时可信？</a:t>
            </a:r>
          </a:p>
          <a:p/>
          <a:p>
            <a:r>
              <a:t>开场：截至10月20日本地提交57ceb5e，最新归档测量为10月19日。已有真实权重量化、生产 serving 引擎及调度追踪证据，足以开始围绕系统问题写作。这里的成熟度评价是写作建议，不是投稿录用判断。1,200是两轮同机同输入loopback请求，26是另一个诊断campaign，不能合并为独立部署样本。尚无经独立校准和测试验证的联合token/clock检测器。</a:t>
            </a:r>
          </a:p>
          <a:p/>
          <a:p>
            <a:r>
              <a:t>Sources:</a:t>
            </a:r>
          </a:p>
          <a:p>
            <a:r>
              <a:t>real_quantization_l40s_20261018</a:t>
            </a:r>
          </a:p>
          <a:p>
            <a:r>
              <a:t>vllm_serving_l40s_20261019</a:t>
            </a:r>
          </a:p>
          <a:p>
            <a:r>
              <a:t>scheduling_l40s_20261019</a:t>
            </a:r>
          </a:p>
          <a:p>
            <a:r>
              <a:t>Local source manifest: slides/mlsys-paper-plan/qa/evidence.json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最新进展：六条证据链已归档，联合验证仍待完成</a:t>
            </a:r>
          </a:p>
          <a:p/>
          <a:p>
            <a:r>
              <a:t>H100八项基线和A100四项基线独立运行；跨GPU配对比较直到10月18日才真正完成。真实量化的0/64 BF16误报不是部署保证。vLLM两轮复用了同样的prompt和配置顺序。调度主格只有两个重叠文本offset，辅助格一个。以上不能拼成同请求的token+clock评估。8月paper.tex与README部分叙述落后于归档，本deck优先使用最新实验报告。</a:t>
            </a:r>
          </a:p>
          <a:p/>
          <a:p>
            <a:r>
              <a:t>Sources:</a:t>
            </a:r>
          </a:p>
          <a:p>
            <a:r>
              <a:t>docs/README.md</a:t>
            </a:r>
          </a:p>
          <a:p>
            <a:r>
              <a:t>experiments/README.md</a:t>
            </a:r>
          </a:p>
          <a:p>
            <a:r>
              <a:t>docs/results/*_20261016..19.md</a:t>
            </a:r>
          </a:p>
          <a:p>
            <a:r>
              <a:t>Local source manifest: slides/mlsys-paper-plan/qa/evidence.json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真实 NF4 已有检测信号；INT8 仍是难点</a:t>
            </a:r>
          </a:p>
          <a:p/>
          <a:p>
            <a:r>
              <a:t>图中所有比例和Wilson95%区间直接读取归档summary。阈值为32个诚实校准序列均值的最大值，严格大于阈值才拒绝。32/64等分母是序列，不是tokens。区间仅描述实现阈值下的测试计数，不包括重新校准的波动；不是三个测试联合的5%误报控制。token-DiFR需要原始共享RNG协议；token-TOPLOC是仓库内的rank-based评分，不能等同原始TOPLOC承诺协议。activation-DiFR需要内部激活。新实验不能直接声称推翻此前另一个模型/预算/协议下的NF4 0/10。</a:t>
            </a:r>
          </a:p>
          <a:p/>
          <a:p>
            <a:r>
              <a:t>Sources:</a:t>
            </a:r>
          </a:p>
          <a:p>
            <a:r>
              <a:t>real_quantization_l40s_20261018/pilot/summary.json</a:t>
            </a:r>
          </a:p>
          <a:p>
            <a:r>
              <a:t>report: real_quantization_l40s_20261018.md</a:t>
            </a:r>
          </a:p>
          <a:p>
            <a:r>
              <a:t>Local source manifest: slides/mlsys-paper-plan/qa/evidence.json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计时信号能穿过 vLLM，但依赖执行模式与流位置</a:t>
            </a:r>
          </a:p>
          <a:p/>
          <a:p>
            <a:r>
              <a:t>左图：16K请求对截为末尾2K的post-first时间比，先在六个配对文本block内取比再汇总。optimized包括compile及CUDA Graphs；eager同时关闭二者。C为客户端并发，不是内部batch size。右图：8K、C4的合法缓存cold/hit比，早期32个间隔，后期95个间隔。窗口是在pilot之后探索选择，复测沿用；不是预先独立验证的稳态窗口。误差线为六个block的min-max，不是CI。这是机制结果，没有拟合检测阈值，也没有部署FPR或TPR。</a:t>
            </a:r>
          </a:p>
          <a:p/>
          <a:p>
            <a:r>
              <a:t>Sources:</a:t>
            </a:r>
          </a:p>
          <a:p>
            <a:r>
              <a:t>vllm_serving_l40s_20261019/summary.json</a:t>
            </a:r>
          </a:p>
          <a:p>
            <a:r>
              <a:t>vllm_serving_l40s_20261019.md</a:t>
            </a:r>
          </a:p>
          <a:p>
            <a:r>
              <a:t>Local source manifest: slides/mlsys-paper-plan/qa/evidence.json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合法系统变化会移动两类观测量</a:t>
            </a:r>
          </a:p>
          <a:p/>
          <a:p>
            <a:r>
              <a:t>左：同一H100-origin capture在A100回放，80序列×256tokens；GPU和driver同时变化。token-DiFR跨GPU每个schedule分别计算d-prime，误差线为90%paired sequence bootstrap，400 draws。这些效应不能与另一量化实验的d-prime直接相减。右：Nsight cache-cold、8K输入、C4，两个offset组的中位数；2K改8K预算后混合迭代13变4，早期间隔下降，晚期间隔近似不变。无profiler对照方向一致（16.88至13.68 ms），但每格只有一组。预算同时改变编译范围和执行shape，不是scheduler-only因果微基准；客户端时钟与trace时钟未对齐。该证据支持调度贡献，不能确定每个请求的kernel延迟。</a:t>
            </a:r>
          </a:p>
          <a:p/>
          <a:p>
            <a:r>
              <a:t>Sources:</a:t>
            </a:r>
          </a:p>
          <a:p>
            <a:r>
              <a:t>cross_gpu_replay_20261018/summary.json</a:t>
            </a:r>
          </a:p>
          <a:p>
            <a:r>
              <a:t>scheduling_l40s_20261019/summary.json</a:t>
            </a:r>
          </a:p>
          <a:p>
            <a:r>
              <a:t>Local source manifest: slides/mlsys-paper-plan/qa/evidence.json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已有测量框架；核心技术贡献尚未建立。</a:t>
            </a:r>
          </a:p>
          <a:p/>
          <a:p>
            <a:r>
              <a:t>这是论文组织与后续设计建议，不声称新联合系统已完成。现有API已有各自的token/clock检查，没有匹配校准时返回inconclusive。拟新增的serving-condition envelope、冻结的晚期窗口和joint calibration必须独立实验。合法条件集合应由可信基准实验定义，不能只信被审计provider的元数据自报。黑盒token/arrival通道、共享RNG协作通道和内部activation通道必须分别比较。相关工作应分别讨论重算检验、activation/proof方案和timing fingerprinting；仓库token_toploc只是rank scorer，不能代表原TOPLOC协议。本文的新颖性需要通过文献对照与消融证明。2026-10-20技术复审：DiFR已覆盖混合校准与vLLM集成，LLM-42和Bit-Exact进一步覆盖确定性与精确回放；本页只是实验框架，不能当作已有独立创新。详见planning/BF16_TECHNICAL_NOVELTY.md及技术补充deck。</a:t>
            </a:r>
          </a:p>
          <a:p/>
          <a:p>
            <a:r>
              <a:t>Sources:</a:t>
            </a:r>
          </a:p>
          <a:p>
            <a:r>
              <a:t>docs/VERIFICATION_SERVICE.md</a:t>
            </a:r>
          </a:p>
          <a:p>
            <a:r>
              <a:t>planning/NEXT_EXPERIMENTS.md</a:t>
            </a:r>
          </a:p>
          <a:p>
            <a:r>
              <a:t>MLSys 2027 CFP</a:t>
            </a:r>
          </a:p>
          <a:p>
            <a:r>
              <a:t>Local source manifest: slides/mlsys-paper-plan/qa/evidence.json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页正文：每一节只承担一个可验证的论点</a:t>
            </a:r>
          </a:p>
          <a:p/>
          <a:p>
            <a:r>
              <a:t>官网CFP于2026-10-20查询：10页双栏正文，不含参考文献；附录单独提交；必须有参考文献后的AI Usage Disclosure。页数分配为建议，总计10页。现稿是August 2026单H100实验汇总，不能直接作为新论文摘要。必须修改的旧叙述包括：所有攻击都可检出、普遍零成本、co-tenancy普遍单边安全以及泛化的模型身份证明。应使用最新NF4/INT8真实权重结果；历史模拟扰动和小池偏差作为方法学控制；实验室profiler仅作为解释oracle，不是黑盒验证器的输入。旧稿16x成本节省若保留需重测端到端路径，不把局部prefix scheduling速度当本设计已有收益。</a:t>
            </a:r>
          </a:p>
          <a:p/>
          <a:p>
            <a:r>
              <a:t>Sources:</a:t>
            </a:r>
          </a:p>
          <a:p>
            <a:r>
              <a:t>paper/paper.tex (August draft)</a:t>
            </a:r>
          </a:p>
          <a:p>
            <a:r>
              <a:t>mlsys.org/Conferences/2027/CallForResearchPapers</a:t>
            </a:r>
          </a:p>
          <a:p>
            <a:r>
              <a:t>Local source manifest: slides/mlsys-paper-plan/qa/evidence.json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先补最能改变论文结论的实验</a:t>
            </a:r>
          </a:p>
          <a:p/>
          <a:p>
            <a:r>
              <a:t>P0是第一优先级：探索数据不能既选窗口又报告独立测试精度，需冻结统计量、独立corpus/session和threshold。5%是建议operating point，并非宣称已达成；验收采用各合法条件的误报95%上界。样本数需根据区间精度和session相关性设计，不将token或并发请求当独立单位。P1同一请求同时采tokens与client time，在匹配可见性假设下比较单通道与joint方案；128/512/2048为新建议预算，不是已测量的效果。需计入探测请求、参考GPU秒、p50/p95 latency和校准成本。P2先一个额外GPU及独立corpus，再扩第二模型/较大模型。P3测试延迟填充、probe识别等适应性provider。若P0或P1失败，应收窄为实证边界/设计原则论文并诚实报告失败；不能补写部署可靠性。CFP写Oct30 20:00UTC即北京时间Oct31 04:00。主页显示PDT noon换算会差一小时，本deck明确使用CFP的UTC文本，实际提交前需再次核对OpenReview。AI协助范围包括本次归档检查、写作框架、图表脚本与slides。</a:t>
            </a:r>
          </a:p>
          <a:p/>
          <a:p>
            <a:r>
              <a:t>Sources:</a:t>
            </a:r>
          </a:p>
          <a:p>
            <a:r>
              <a:t>ROADMAP.md</a:t>
            </a:r>
          </a:p>
          <a:p>
            <a:r>
              <a:t>planning/NEXT_EXPERIMENTS.md</a:t>
            </a:r>
          </a:p>
          <a:p>
            <a:r>
              <a:t>MLSys 2027 research CFP</a:t>
            </a:r>
          </a:p>
          <a:p>
            <a:r>
              <a:t>Local source manifest: slides/mlsys-paper-plan/qa/evidence.json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mlsys.org/Conferences/2027/CallForResearchPapers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mlsys.org/Conferences/2027/CallForResearchPaper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BCDC8"/>
                </a:solidFill>
                <a:latin typeface="Arial"/>
                <a:ea typeface="Heiti SC"/>
              </a:rPr>
              <a:t>INFERENCE VERIFICATION  /  RESEARCH UPDATE / MLSYS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279400"/>
            <a:ext cx="2184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7C8D6"/>
                </a:solidFill>
                <a:latin typeface="Heiti SC"/>
                <a:ea typeface="Heiti SC"/>
              </a:rPr>
              <a:t>进展 + 写作建议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62000"/>
            <a:ext cx="11277600" cy="97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Heiti SC"/>
                <a:ea typeface="Heiti SC"/>
              </a:rPr>
              <a:t>实验已走到 serving 机制层。</a:t>
            </a:r>
          </a:p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Heiti SC"/>
                <a:ea typeface="Heiti SC"/>
              </a:rPr>
              <a:t>论文应回答：推理验证何时可信？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5300"/>
            <a:ext cx="112776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7C8D6"/>
                </a:solidFill>
                <a:latin typeface="Heiti SC"/>
                <a:ea typeface="Heiti SC"/>
              </a:rPr>
              <a:t>建议题目  IVGym: Inference Verification under Serving Variability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73800"/>
            <a:ext cx="11277600" cy="0"/>
          </a:xfrm>
          <a:prstGeom prst="line">
            <a:avLst/>
          </a:prstGeom>
          <a:ln w="12700">
            <a:solidFill>
              <a:srgbClr val="3A50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375400"/>
            <a:ext cx="1079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C8D6"/>
                </a:solidFill>
                <a:latin typeface="Arial"/>
                <a:ea typeface="Heiti SC"/>
              </a:rPr>
              <a:t>real_quantization_l40s_20261018  |  vllm_serving_l40s_20261019  |  scheduling_l40s_20261019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604000"/>
            <a:ext cx="105410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7C8D6"/>
                </a:solidFill>
                <a:latin typeface="Arial"/>
                <a:ea typeface="Heiti SC"/>
              </a:rPr>
              <a:t>2026-10-20  ·  archived through 2026-10-19  ·  57ceb5e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3000" y="6502400"/>
            <a:ext cx="431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7C8D6"/>
                </a:solidFill>
                <a:latin typeface="Arial"/>
                <a:ea typeface="Heiti SC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43200"/>
            <a:ext cx="3606800" cy="1676400"/>
          </a:xfrm>
          <a:prstGeom prst="roundRect">
            <a:avLst>
              <a:gd name="adj" fmla="val 8000"/>
            </a:avLst>
          </a:prstGeom>
          <a:solidFill>
            <a:srgbClr val="2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100" y="2921000"/>
            <a:ext cx="3175000" cy="596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92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8DDFD1"/>
                </a:solidFill>
                <a:latin typeface="Arial"/>
                <a:ea typeface="Heiti SC"/>
              </a:rPr>
              <a:t>34 / 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100" y="3606800"/>
            <a:ext cx="31750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Heiti SC"/>
                <a:ea typeface="Heiti SC"/>
              </a:rPr>
              <a:t>真实 NF4 被检出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100" y="4013200"/>
            <a:ext cx="3175000" cy="29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7C8D6"/>
                </a:solidFill>
                <a:latin typeface="Heiti SC"/>
                <a:ea typeface="Heiti SC"/>
              </a:rPr>
              <a:t>token-DiFR；128 tokens / 序列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2600" y="2743200"/>
            <a:ext cx="3606800" cy="1676400"/>
          </a:xfrm>
          <a:prstGeom prst="roundRect">
            <a:avLst>
              <a:gd name="adj" fmla="val 8000"/>
            </a:avLst>
          </a:prstGeom>
          <a:solidFill>
            <a:srgbClr val="2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8500" y="2921000"/>
            <a:ext cx="3175000" cy="596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92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8DDFD1"/>
                </a:solidFill>
                <a:latin typeface="Arial"/>
                <a:ea typeface="Heiti SC"/>
              </a:rPr>
              <a:t>1,200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8500" y="3606800"/>
            <a:ext cx="31750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Heiti SC"/>
                <a:ea typeface="Heiti SC"/>
              </a:rPr>
              <a:t>vLLM 正式测量请求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8500" y="4013200"/>
            <a:ext cx="3175000" cy="29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7C8D6"/>
                </a:solidFill>
                <a:latin typeface="Heiti SC"/>
                <a:ea typeface="Heiti SC"/>
              </a:rPr>
              <a:t>600 pilot + 600 同输入时间复测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8000" y="2743200"/>
            <a:ext cx="3606800" cy="1676400"/>
          </a:xfrm>
          <a:prstGeom prst="roundRect">
            <a:avLst>
              <a:gd name="adj" fmla="val 8000"/>
            </a:avLst>
          </a:prstGeom>
          <a:solidFill>
            <a:srgbClr val="2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3900" y="2921000"/>
            <a:ext cx="3175000" cy="596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92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8DDFD1"/>
                </a:solidFill>
                <a:latin typeface="Arial"/>
                <a:ea typeface="Heiti SC"/>
              </a:rPr>
              <a:t>26 / 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3900" y="3606800"/>
            <a:ext cx="31750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Heiti SC"/>
                <a:ea typeface="Heiti SC"/>
              </a:rPr>
              <a:t>调度诊断运行通过验证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3900" y="4013200"/>
            <a:ext cx="3175000" cy="29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7C8D6"/>
                </a:solidFill>
                <a:latin typeface="Heiti SC"/>
                <a:ea typeface="Heiti SC"/>
              </a:rPr>
              <a:t>Nsight / PyTorch / 无 profiler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000" y="4851400"/>
            <a:ext cx="11176000" cy="952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Heiti SC"/>
                <a:ea typeface="Heiti SC"/>
              </a:rPr>
              <a:t>核心判断：机制证据已形成；部署误报率、跨条件泛化和验证成本尚未闭环。</a:t>
            </a:r>
          </a:p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Heiti SC"/>
                <a:ea typeface="Heiti SC"/>
              </a:rPr>
              <a:t>主线建议：用真实 serving 变化定义检测边界，再验证有适用条件的审计方法。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87F82"/>
                </a:solidFill>
                <a:latin typeface="Arial"/>
                <a:ea typeface="Heiti SC"/>
              </a:rPr>
              <a:t>INFERENCE VERIFICATION  /  01 / EXPERIMENT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279400"/>
            <a:ext cx="2184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C7C"/>
                </a:solidFill>
                <a:latin typeface="Heiti SC"/>
                <a:ea typeface="Heiti SC"/>
              </a:rPr>
              <a:t>已测量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62000"/>
            <a:ext cx="11277600" cy="97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C40"/>
                </a:solidFill>
                <a:latin typeface="Heiti SC"/>
                <a:ea typeface="Heiti SC"/>
              </a:rPr>
              <a:t>最新进展：六条证据链已归档，联合验证仍待完成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5300"/>
            <a:ext cx="112776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“完成”指该实验协议完成；各项测量的模型、样本与统计单位不同。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73800"/>
            <a:ext cx="11277600" cy="0"/>
          </a:xfrm>
          <a:prstGeom prst="line">
            <a:avLst/>
          </a:prstGeom>
          <a:ln w="12700">
            <a:solidFill>
              <a:srgbClr val="D9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375400"/>
            <a:ext cx="1079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7C"/>
                </a:solidFill>
                <a:latin typeface="Arial"/>
                <a:ea typeface="Heiti SC"/>
              </a:rPr>
              <a:t>docs/README.md  |  experiments/README.md  |  docs/results/*_20261016..19.md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604000"/>
            <a:ext cx="105410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86C7C"/>
                </a:solidFill>
                <a:latin typeface="Arial"/>
                <a:ea typeface="Heiti SC"/>
              </a:rPr>
              <a:t>2026-10-20  ·  archived through 2026-10-19  ·  57ceb5e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3000" y="6502400"/>
            <a:ext cx="431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86C7C"/>
                </a:solidFill>
                <a:latin typeface="Arial"/>
                <a:ea typeface="Heiti SC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89200"/>
            <a:ext cx="2349500" cy="368300"/>
          </a:xfrm>
          <a:prstGeom prst="rect">
            <a:avLst/>
          </a:prstGeom>
          <a:solidFill>
            <a:srgbClr val="17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6700" y="2489200"/>
            <a:ext cx="4229100" cy="368300"/>
          </a:xfrm>
          <a:prstGeom prst="rect">
            <a:avLst/>
          </a:prstGeom>
          <a:solidFill>
            <a:srgbClr val="17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35800" y="2489200"/>
            <a:ext cx="4699000" cy="368300"/>
          </a:xfrm>
          <a:prstGeom prst="rect">
            <a:avLst/>
          </a:prstGeom>
          <a:solidFill>
            <a:srgbClr val="17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4200" y="2565400"/>
            <a:ext cx="2159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iti SC"/>
                <a:ea typeface="Heiti SC"/>
              </a:rPr>
              <a:t>实验 / 日期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3700" y="2565400"/>
            <a:ext cx="3937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iti SC"/>
                <a:ea typeface="Heiti SC"/>
              </a:rPr>
              <a:t>已完成的证据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2800" y="2565400"/>
            <a:ext cx="4445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iti SC"/>
                <a:ea typeface="Heiti SC"/>
              </a:rPr>
              <a:t>目前可以支持的结论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57500"/>
            <a:ext cx="11277600" cy="40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4200" y="2959100"/>
            <a:ext cx="21209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72C40"/>
                </a:solidFill>
                <a:latin typeface="Heiti SC"/>
                <a:ea typeface="Heiti SC"/>
              </a:rPr>
              <a:t>H100 + A100 / 10.16-17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3700" y="2959100"/>
            <a:ext cx="40005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72C40"/>
                </a:solidFill>
                <a:latin typeface="Heiti SC"/>
                <a:ea typeface="Heiti SC"/>
              </a:rPr>
              <a:t>8 项 / 4 项硬件基线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2800" y="2959100"/>
            <a:ext cx="44704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72C40"/>
                </a:solidFill>
                <a:latin typeface="Heiti SC"/>
                <a:ea typeface="Heiti SC"/>
              </a:rPr>
              <a:t>建立独立基线；不能直接相减当配对结果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63900"/>
            <a:ext cx="11277600" cy="406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4200" y="3365500"/>
            <a:ext cx="21209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72C40"/>
                </a:solidFill>
                <a:latin typeface="Heiti SC"/>
                <a:ea typeface="Heiti SC"/>
              </a:rPr>
              <a:t>配对回放 / 10.18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33700" y="3365500"/>
            <a:ext cx="40005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72C40"/>
                </a:solidFill>
                <a:latin typeface="Heiti SC"/>
                <a:ea typeface="Heiti SC"/>
              </a:rPr>
              <a:t>80 × 256 固定 tokens；4 schedules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2800" y="3365500"/>
            <a:ext cx="44704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72C40"/>
                </a:solidFill>
                <a:latin typeface="Heiti SC"/>
                <a:ea typeface="Heiti SC"/>
              </a:rPr>
              <a:t>诚实数值漂移依赖执行路径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670300"/>
            <a:ext cx="11277600" cy="40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4200" y="3771900"/>
            <a:ext cx="21209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72C40"/>
                </a:solidFill>
                <a:latin typeface="Heiti SC"/>
                <a:ea typeface="Heiti SC"/>
              </a:rPr>
              <a:t>真实量化 / 10.18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33700" y="3771900"/>
            <a:ext cx="40005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72C40"/>
                </a:solidFill>
                <a:latin typeface="Heiti SC"/>
                <a:ea typeface="Heiti SC"/>
              </a:rPr>
              <a:t>BF16 / NF4 / INT8；每臂 32 校准 + 64 测试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2800" y="3771900"/>
            <a:ext cx="44704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72C40"/>
                </a:solidFill>
                <a:latin typeface="Heiti SC"/>
                <a:ea typeface="Heiti SC"/>
              </a:rPr>
              <a:t>NF4 有信号；INT8 在当前预算下较弱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076700"/>
            <a:ext cx="11277600" cy="406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4200" y="4178300"/>
            <a:ext cx="21209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72C40"/>
                </a:solidFill>
                <a:latin typeface="Heiti SC"/>
                <a:ea typeface="Heiti SC"/>
              </a:rPr>
              <a:t>本地机制 / 10.19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3700" y="4178300"/>
            <a:ext cx="40005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72C40"/>
                </a:solidFill>
                <a:latin typeface="Heiti SC"/>
                <a:ea typeface="Heiti SC"/>
              </a:rPr>
              <a:t>524 本地测量 + 42 HTTP + 96 SDPA 控制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62800" y="4178300"/>
            <a:ext cx="44704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72C40"/>
                </a:solidFill>
                <a:latin typeface="Heiti SC"/>
                <a:ea typeface="Heiti SC"/>
              </a:rPr>
              <a:t>合法表示与 kernel 也改变耗时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483100"/>
            <a:ext cx="11277600" cy="40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4200" y="4584700"/>
            <a:ext cx="21209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72C40"/>
                </a:solidFill>
                <a:latin typeface="Heiti SC"/>
                <a:ea typeface="Heiti SC"/>
              </a:rPr>
              <a:t>vLLM serving / 10.19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33700" y="4584700"/>
            <a:ext cx="40005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72C40"/>
                </a:solidFill>
                <a:latin typeface="Heiti SC"/>
                <a:ea typeface="Heiti SC"/>
              </a:rPr>
              <a:t>600 + 600 请求；缓存 / 并发 / eager 控制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2800" y="4584700"/>
            <a:ext cx="44704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72C40"/>
                </a:solidFill>
                <a:latin typeface="Heiti SC"/>
                <a:ea typeface="Heiti SC"/>
              </a:rPr>
              <a:t>上下文响应可复测，幅度取决于 serving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889500"/>
            <a:ext cx="11277600" cy="406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4200" y="4991100"/>
            <a:ext cx="21209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72C40"/>
                </a:solidFill>
                <a:latin typeface="Heiti SC"/>
                <a:ea typeface="Heiti SC"/>
              </a:rPr>
              <a:t>调度追踪 / 10.19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33700" y="4991100"/>
            <a:ext cx="40005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72C40"/>
                </a:solidFill>
                <a:latin typeface="Heiti SC"/>
                <a:ea typeface="Heiti SC"/>
              </a:rPr>
              <a:t>26 次运行；98 请求；2K / 8K token budget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62800" y="4991100"/>
            <a:ext cx="44704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72C40"/>
                </a:solidFill>
                <a:latin typeface="Heiti SC"/>
                <a:ea typeface="Heiti SC"/>
              </a:rPr>
              <a:t>早期到达间隔包含 prefill / 调度贡献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676900"/>
            <a:ext cx="11277600" cy="419100"/>
          </a:xfrm>
          <a:prstGeom prst="roundRect">
            <a:avLst>
              <a:gd name="adj" fmla="val 8000"/>
            </a:avLst>
          </a:prstGeom>
          <a:solidFill>
            <a:srgbClr val="E8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600" y="5753100"/>
            <a:ext cx="109728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864CF"/>
                </a:solidFill>
                <a:latin typeface="Heiti SC"/>
                <a:ea typeface="Heiti SC"/>
              </a:rPr>
              <a:t>下一条必须补齐的证据链：独立校准 → 合法条件误报 → 攻击检出 → 端到端成本。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87F82"/>
                </a:solidFill>
                <a:latin typeface="Arial"/>
                <a:ea typeface="Heiti SC"/>
              </a:rPr>
              <a:t>INFERENCE VERIFICATION  /  02 / REAL-WEIGHT QUANTIZATION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279400"/>
            <a:ext cx="2184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C7C"/>
                </a:solidFill>
                <a:latin typeface="Heiti SC"/>
                <a:ea typeface="Heiti SC"/>
              </a:rPr>
              <a:t>已测量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62000"/>
            <a:ext cx="11277600" cy="97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C40"/>
                </a:solidFill>
                <a:latin typeface="Heiti SC"/>
                <a:ea typeface="Heiti SC"/>
              </a:rPr>
              <a:t>真实 NF4 已有检测信号；INT8 仍是难点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5300"/>
            <a:ext cx="112776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Qwen3-1.7B / L40S；32 条 BF16 校准；每臂 64 条测试；每条 128 tokens；名义 α = 5%。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73800"/>
            <a:ext cx="11277600" cy="0"/>
          </a:xfrm>
          <a:prstGeom prst="line">
            <a:avLst/>
          </a:prstGeom>
          <a:ln w="12700">
            <a:solidFill>
              <a:srgbClr val="D9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375400"/>
            <a:ext cx="1079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7C"/>
                </a:solidFill>
                <a:latin typeface="Arial"/>
                <a:ea typeface="Heiti SC"/>
              </a:rPr>
              <a:t>real_quantization_l40s_20261018/pilot/summary.json  |  report: real_quantization_l40s_20261018.md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604000"/>
            <a:ext cx="105410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86C7C"/>
                </a:solidFill>
                <a:latin typeface="Arial"/>
                <a:ea typeface="Heiti SC"/>
              </a:rPr>
              <a:t>2026-10-20  ·  archived through 2026-10-19  ·  57ceb5e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3000" y="6502400"/>
            <a:ext cx="431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86C7C"/>
                </a:solidFill>
                <a:latin typeface="Arial"/>
                <a:ea typeface="Heiti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13000"/>
            <a:ext cx="78105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C40"/>
                </a:solidFill>
                <a:latin typeface="Heiti SC"/>
                <a:ea typeface="Heiti SC"/>
              </a:rPr>
              <a:t>拒绝率（BF16 为误报；NF4 / INT8 为检出）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44800"/>
            <a:ext cx="152400" cy="101600"/>
          </a:xfrm>
          <a:prstGeom prst="rect">
            <a:avLst/>
          </a:prstGeom>
          <a:solidFill>
            <a:srgbClr val="586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81300"/>
            <a:ext cx="952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86C7C"/>
                </a:solidFill>
                <a:latin typeface="Arial"/>
                <a:ea typeface="Heiti SC"/>
              </a:rPr>
              <a:t>BF16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27200" y="2844800"/>
            <a:ext cx="152400" cy="1016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55800" y="2781300"/>
            <a:ext cx="952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87F82"/>
                </a:solidFill>
                <a:latin typeface="Arial"/>
                <a:ea typeface="Heiti SC"/>
              </a:rPr>
              <a:t>NF4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33700" y="2844800"/>
            <a:ext cx="152400" cy="101600"/>
          </a:xfrm>
          <a:prstGeom prst="rect">
            <a:avLst/>
          </a:prstGeom>
          <a:solidFill>
            <a:srgbClr val="BA5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62300" y="2781300"/>
            <a:ext cx="952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A5B2B"/>
                </a:solidFill>
                <a:latin typeface="Arial"/>
                <a:ea typeface="Heiti SC"/>
              </a:rPr>
              <a:t>INT8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60600" y="3136900"/>
            <a:ext cx="0" cy="2159000"/>
          </a:xfrm>
          <a:prstGeom prst="line">
            <a:avLst/>
          </a:prstGeom>
          <a:ln w="8890">
            <a:solidFill>
              <a:srgbClr val="D9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006600" y="5346700"/>
            <a:ext cx="508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86C7C"/>
                </a:solidFill>
                <a:latin typeface="Arial"/>
                <a:ea typeface="Heiti SC"/>
              </a:rPr>
              <a:t>0%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530600" y="3136900"/>
            <a:ext cx="0" cy="2159000"/>
          </a:xfrm>
          <a:prstGeom prst="line">
            <a:avLst/>
          </a:prstGeom>
          <a:ln w="8890">
            <a:solidFill>
              <a:srgbClr val="D9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276600" y="5346700"/>
            <a:ext cx="508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86C7C"/>
                </a:solidFill>
                <a:latin typeface="Arial"/>
                <a:ea typeface="Heiti SC"/>
              </a:rPr>
              <a:t>25%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00600" y="3136900"/>
            <a:ext cx="0" cy="2159000"/>
          </a:xfrm>
          <a:prstGeom prst="line">
            <a:avLst/>
          </a:prstGeom>
          <a:ln w="8890">
            <a:solidFill>
              <a:srgbClr val="D9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46600" y="5346700"/>
            <a:ext cx="508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86C7C"/>
                </a:solidFill>
                <a:latin typeface="Arial"/>
                <a:ea typeface="Heiti SC"/>
              </a:rPr>
              <a:t>50%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70600" y="3136900"/>
            <a:ext cx="0" cy="2159000"/>
          </a:xfrm>
          <a:prstGeom prst="line">
            <a:avLst/>
          </a:prstGeom>
          <a:ln w="8890">
            <a:solidFill>
              <a:srgbClr val="D9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816600" y="5346700"/>
            <a:ext cx="508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86C7C"/>
                </a:solidFill>
                <a:latin typeface="Arial"/>
                <a:ea typeface="Heiti SC"/>
              </a:rPr>
              <a:t>75%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327400"/>
            <a:ext cx="17399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C40"/>
                </a:solidFill>
                <a:latin typeface="Arial"/>
                <a:ea typeface="Heiti SC"/>
              </a:rPr>
              <a:t>token-DiFR</a:t>
            </a:r>
          </a:p>
        </p:txBody>
      </p:sp>
      <p:sp>
        <p:nvSpPr>
          <p:cNvPr id="27" name="Oval 26"/>
          <p:cNvSpPr/>
          <p:nvPr/>
        </p:nvSpPr>
        <p:spPr>
          <a:xfrm>
            <a:off x="2232660" y="3229610"/>
            <a:ext cx="55880" cy="55880"/>
          </a:xfrm>
          <a:prstGeom prst="ellipse">
            <a:avLst/>
          </a:prstGeom>
          <a:solidFill>
            <a:srgbClr val="586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2260600" y="3257550"/>
            <a:ext cx="287650" cy="0"/>
          </a:xfrm>
          <a:prstGeom prst="line">
            <a:avLst/>
          </a:prstGeom>
          <a:ln w="17780">
            <a:solidFill>
              <a:srgbClr val="58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260600" y="3219450"/>
            <a:ext cx="0" cy="76200"/>
          </a:xfrm>
          <a:prstGeom prst="line">
            <a:avLst/>
          </a:prstGeom>
          <a:ln w="17780">
            <a:solidFill>
              <a:srgbClr val="58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548250" y="3219450"/>
            <a:ext cx="0" cy="76200"/>
          </a:xfrm>
          <a:prstGeom prst="line">
            <a:avLst/>
          </a:prstGeom>
          <a:ln w="17780">
            <a:solidFill>
              <a:srgbClr val="58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261100" y="3162300"/>
            <a:ext cx="1574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C7C"/>
                </a:solidFill>
                <a:latin typeface="Arial"/>
                <a:ea typeface="Heiti SC"/>
              </a:rPr>
              <a:t>0/64  (0.0%)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60600" y="3390900"/>
            <a:ext cx="2698750" cy="1143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347062" y="3448050"/>
            <a:ext cx="1206597" cy="0"/>
          </a:xfrm>
          <a:prstGeom prst="line">
            <a:avLst/>
          </a:prstGeom>
          <a:ln w="17780">
            <a:solidFill>
              <a:srgbClr val="087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347062" y="3409950"/>
            <a:ext cx="0" cy="76200"/>
          </a:xfrm>
          <a:prstGeom prst="line">
            <a:avLst/>
          </a:prstGeom>
          <a:ln w="17780">
            <a:solidFill>
              <a:srgbClr val="087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53659" y="3409950"/>
            <a:ext cx="0" cy="76200"/>
          </a:xfrm>
          <a:prstGeom prst="line">
            <a:avLst/>
          </a:prstGeom>
          <a:ln w="17780">
            <a:solidFill>
              <a:srgbClr val="087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261100" y="3352800"/>
            <a:ext cx="1574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7F82"/>
                </a:solidFill>
                <a:latin typeface="Arial"/>
                <a:ea typeface="Heiti SC"/>
              </a:rPr>
              <a:t>34/64  (53.1%)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60600" y="3581400"/>
            <a:ext cx="396875" cy="114300"/>
          </a:xfrm>
          <a:prstGeom prst="rect">
            <a:avLst/>
          </a:prstGeom>
          <a:solidFill>
            <a:srgbClr val="BA5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2432462" y="3638550"/>
            <a:ext cx="692730" cy="0"/>
          </a:xfrm>
          <a:prstGeom prst="line">
            <a:avLst/>
          </a:prstGeom>
          <a:ln w="17780">
            <a:solidFill>
              <a:srgbClr val="BA5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32462" y="3600450"/>
            <a:ext cx="0" cy="76200"/>
          </a:xfrm>
          <a:prstGeom prst="line">
            <a:avLst/>
          </a:prstGeom>
          <a:ln w="17780">
            <a:solidFill>
              <a:srgbClr val="BA5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125192" y="3600450"/>
            <a:ext cx="0" cy="76200"/>
          </a:xfrm>
          <a:prstGeom prst="line">
            <a:avLst/>
          </a:prstGeom>
          <a:ln w="17780">
            <a:solidFill>
              <a:srgbClr val="BA5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261100" y="3543300"/>
            <a:ext cx="1574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A5B2B"/>
                </a:solidFill>
                <a:latin typeface="Arial"/>
                <a:ea typeface="Heiti SC"/>
              </a:rPr>
              <a:t>5/64  (7.8%)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064000"/>
            <a:ext cx="17399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C40"/>
                </a:solidFill>
                <a:latin typeface="Arial"/>
                <a:ea typeface="Heiti SC"/>
              </a:rPr>
              <a:t>Token rank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60600" y="3937000"/>
            <a:ext cx="317500" cy="114300"/>
          </a:xfrm>
          <a:prstGeom prst="rect">
            <a:avLst/>
          </a:prstGeom>
          <a:solidFill>
            <a:srgbClr val="586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2385421" y="3994150"/>
            <a:ext cx="637051" cy="0"/>
          </a:xfrm>
          <a:prstGeom prst="line">
            <a:avLst/>
          </a:prstGeom>
          <a:ln w="17780">
            <a:solidFill>
              <a:srgbClr val="58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385421" y="3956050"/>
            <a:ext cx="0" cy="76200"/>
          </a:xfrm>
          <a:prstGeom prst="line">
            <a:avLst/>
          </a:prstGeom>
          <a:ln w="17780">
            <a:solidFill>
              <a:srgbClr val="58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022472" y="3956050"/>
            <a:ext cx="0" cy="76200"/>
          </a:xfrm>
          <a:prstGeom prst="line">
            <a:avLst/>
          </a:prstGeom>
          <a:ln w="17780">
            <a:solidFill>
              <a:srgbClr val="58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261100" y="3898900"/>
            <a:ext cx="1574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C7C"/>
                </a:solidFill>
                <a:latin typeface="Arial"/>
                <a:ea typeface="Heiti SC"/>
              </a:rPr>
              <a:t>4/64  (6.2%)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60600" y="4127500"/>
            <a:ext cx="2540000" cy="1143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4196186" y="4184650"/>
            <a:ext cx="1208827" cy="0"/>
          </a:xfrm>
          <a:prstGeom prst="line">
            <a:avLst/>
          </a:prstGeom>
          <a:ln w="17780">
            <a:solidFill>
              <a:srgbClr val="087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196186" y="4146550"/>
            <a:ext cx="0" cy="76200"/>
          </a:xfrm>
          <a:prstGeom prst="line">
            <a:avLst/>
          </a:prstGeom>
          <a:ln w="17780">
            <a:solidFill>
              <a:srgbClr val="087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405013" y="4146550"/>
            <a:ext cx="0" cy="76200"/>
          </a:xfrm>
          <a:prstGeom prst="line">
            <a:avLst/>
          </a:prstGeom>
          <a:ln w="17780">
            <a:solidFill>
              <a:srgbClr val="087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261100" y="4089400"/>
            <a:ext cx="1574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7F82"/>
                </a:solidFill>
                <a:latin typeface="Arial"/>
                <a:ea typeface="Heiti SC"/>
              </a:rPr>
              <a:t>32/64  (50.0%)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60600" y="4318000"/>
            <a:ext cx="396875" cy="114300"/>
          </a:xfrm>
          <a:prstGeom prst="rect">
            <a:avLst/>
          </a:prstGeom>
          <a:solidFill>
            <a:srgbClr val="BA5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2432462" y="4375150"/>
            <a:ext cx="692730" cy="0"/>
          </a:xfrm>
          <a:prstGeom prst="line">
            <a:avLst/>
          </a:prstGeom>
          <a:ln w="17780">
            <a:solidFill>
              <a:srgbClr val="BA5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432462" y="4337050"/>
            <a:ext cx="0" cy="76200"/>
          </a:xfrm>
          <a:prstGeom prst="line">
            <a:avLst/>
          </a:prstGeom>
          <a:ln w="17780">
            <a:solidFill>
              <a:srgbClr val="BA5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125192" y="4337050"/>
            <a:ext cx="0" cy="76200"/>
          </a:xfrm>
          <a:prstGeom prst="line">
            <a:avLst/>
          </a:prstGeom>
          <a:ln w="17780">
            <a:solidFill>
              <a:srgbClr val="BA5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261100" y="4279900"/>
            <a:ext cx="1574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A5B2B"/>
                </a:solidFill>
                <a:latin typeface="Arial"/>
                <a:ea typeface="Heiti SC"/>
              </a:rPr>
              <a:t>5/64  (7.8%)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4800600"/>
            <a:ext cx="17399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C40"/>
                </a:solidFill>
                <a:latin typeface="Arial"/>
                <a:ea typeface="Heiti SC"/>
              </a:rPr>
              <a:t>Cross-entropy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60600" y="4673600"/>
            <a:ext cx="238125" cy="114300"/>
          </a:xfrm>
          <a:prstGeom prst="rect">
            <a:avLst/>
          </a:prstGeom>
          <a:solidFill>
            <a:srgbClr val="586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2342230" y="4730750"/>
            <a:ext cx="573672" cy="0"/>
          </a:xfrm>
          <a:prstGeom prst="line">
            <a:avLst/>
          </a:prstGeom>
          <a:ln w="17780">
            <a:solidFill>
              <a:srgbClr val="58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342230" y="4692650"/>
            <a:ext cx="0" cy="76200"/>
          </a:xfrm>
          <a:prstGeom prst="line">
            <a:avLst/>
          </a:prstGeom>
          <a:ln w="17780">
            <a:solidFill>
              <a:srgbClr val="58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915902" y="4692650"/>
            <a:ext cx="0" cy="76200"/>
          </a:xfrm>
          <a:prstGeom prst="line">
            <a:avLst/>
          </a:prstGeom>
          <a:ln w="17780">
            <a:solidFill>
              <a:srgbClr val="58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261100" y="4635500"/>
            <a:ext cx="1574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C7C"/>
                </a:solidFill>
                <a:latin typeface="Arial"/>
                <a:ea typeface="Heiti SC"/>
              </a:rPr>
              <a:t>3/64  (4.7%)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60600" y="4864100"/>
            <a:ext cx="635000" cy="1143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2589389" y="4921250"/>
            <a:ext cx="828158" cy="0"/>
          </a:xfrm>
          <a:prstGeom prst="line">
            <a:avLst/>
          </a:prstGeom>
          <a:ln w="17780">
            <a:solidFill>
              <a:srgbClr val="087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589389" y="4883150"/>
            <a:ext cx="0" cy="76200"/>
          </a:xfrm>
          <a:prstGeom prst="line">
            <a:avLst/>
          </a:prstGeom>
          <a:ln w="17780">
            <a:solidFill>
              <a:srgbClr val="087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417547" y="4883150"/>
            <a:ext cx="0" cy="76200"/>
          </a:xfrm>
          <a:prstGeom prst="line">
            <a:avLst/>
          </a:prstGeom>
          <a:ln w="17780">
            <a:solidFill>
              <a:srgbClr val="087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261100" y="4826000"/>
            <a:ext cx="1574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7F82"/>
                </a:solidFill>
                <a:latin typeface="Arial"/>
                <a:ea typeface="Heiti SC"/>
              </a:rPr>
              <a:t>8/64  (12.5%)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60600" y="5054600"/>
            <a:ext cx="476250" cy="114300"/>
          </a:xfrm>
          <a:prstGeom prst="rect">
            <a:avLst/>
          </a:prstGeom>
          <a:solidFill>
            <a:srgbClr val="BA5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2482485" y="5111750"/>
            <a:ext cx="742445" cy="0"/>
          </a:xfrm>
          <a:prstGeom prst="line">
            <a:avLst/>
          </a:prstGeom>
          <a:ln w="17780">
            <a:solidFill>
              <a:srgbClr val="BA5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482485" y="5073650"/>
            <a:ext cx="0" cy="76200"/>
          </a:xfrm>
          <a:prstGeom prst="line">
            <a:avLst/>
          </a:prstGeom>
          <a:ln w="17780">
            <a:solidFill>
              <a:srgbClr val="BA5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224930" y="5073650"/>
            <a:ext cx="0" cy="76200"/>
          </a:xfrm>
          <a:prstGeom prst="line">
            <a:avLst/>
          </a:prstGeom>
          <a:ln w="17780">
            <a:solidFill>
              <a:srgbClr val="BA5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6261100" y="5016500"/>
            <a:ext cx="1574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A5B2B"/>
                </a:solidFill>
                <a:latin typeface="Arial"/>
                <a:ea typeface="Heiti SC"/>
              </a:rPr>
              <a:t>6/64  (9.4%)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204200" y="2463800"/>
            <a:ext cx="35306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407400" y="2667000"/>
            <a:ext cx="31369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C40"/>
                </a:solidFill>
                <a:latin typeface="Heiti SC"/>
                <a:ea typeface="Heiti SC"/>
              </a:rPr>
              <a:t>结果的适用边界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07400" y="3162300"/>
            <a:ext cx="3136900" cy="210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DiFR 需共享 RNG 协议。</a:t>
            </a:r>
          </a:p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TOPLOC 不需共享 seed，</a:t>
            </a:r>
          </a:p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但 BF16 误报为 4/64。</a:t>
            </a:r>
          </a:p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/>
            </a:r>
          </a:p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DiFR 的 0/64 误报：</a:t>
            </a:r>
          </a:p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95% Wilson 上界仍为 5.66%。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5588000"/>
            <a:ext cx="762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44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86C7C"/>
                </a:solidFill>
                <a:latin typeface="Heiti SC"/>
                <a:ea typeface="Heiti SC"/>
              </a:rPr>
              <a:t>误差线：95% Wilson 区间。token-TOPLOC 为仓库内 rank score。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57200" y="5816600"/>
            <a:ext cx="11277600" cy="355600"/>
          </a:xfrm>
          <a:prstGeom prst="roundRect">
            <a:avLst>
              <a:gd name="adj" fmla="val 8000"/>
            </a:avLst>
          </a:prstGeom>
          <a:solidFill>
            <a:srgbClr val="E8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09600" y="58928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64CF"/>
                </a:solidFill>
                <a:latin typeface="Heiti SC"/>
                <a:ea typeface="Heiti SC"/>
              </a:rPr>
              <a:t>内部激活控制：NF4 64/64、INT8 52/64；需要 provider 额外证据，须单独报告。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87F82"/>
                </a:solidFill>
                <a:latin typeface="Arial"/>
                <a:ea typeface="Heiti SC"/>
              </a:rPr>
              <a:t>INFERENCE VERIFICATION  /  03 / PRODUCTION SERVING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279400"/>
            <a:ext cx="2184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C7C"/>
                </a:solidFill>
                <a:latin typeface="Heiti SC"/>
                <a:ea typeface="Heiti SC"/>
              </a:rPr>
              <a:t>已测量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62000"/>
            <a:ext cx="11277600" cy="97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C40"/>
                </a:solidFill>
                <a:latin typeface="Heiti SC"/>
                <a:ea typeface="Heiti SC"/>
              </a:rPr>
              <a:t>计时信号能穿过 vLLM，但依赖执行模式与流位置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5300"/>
            <a:ext cx="112776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同一 L40S 的 loopback streaming；每轮 600 请求；延迟 18.25 分钟后用相同输入复测。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73800"/>
            <a:ext cx="11277600" cy="0"/>
          </a:xfrm>
          <a:prstGeom prst="line">
            <a:avLst/>
          </a:prstGeom>
          <a:ln w="12700">
            <a:solidFill>
              <a:srgbClr val="D9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375400"/>
            <a:ext cx="1079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7C"/>
                </a:solidFill>
                <a:latin typeface="Arial"/>
                <a:ea typeface="Heiti SC"/>
              </a:rPr>
              <a:t>vllm_serving_l40s_20261019/summary.json  |  vllm_serving_l40s_20261019.md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604000"/>
            <a:ext cx="105410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86C7C"/>
                </a:solidFill>
                <a:latin typeface="Arial"/>
                <a:ea typeface="Heiti SC"/>
              </a:rPr>
              <a:t>2026-10-20  ·  archived through 2026-10-19  ·  57ceb5e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3000" y="6502400"/>
            <a:ext cx="431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86C7C"/>
                </a:solidFill>
                <a:latin typeface="Arial"/>
                <a:ea typeface="Heiti SC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51100"/>
            <a:ext cx="67945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C40"/>
                </a:solidFill>
                <a:latin typeface="Heiti SC"/>
                <a:ea typeface="Heiti SC"/>
              </a:rPr>
              <a:t>16K full / truncated：首事件后的 ms/token 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2100" y="2451100"/>
            <a:ext cx="38227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C40"/>
                </a:solidFill>
                <a:latin typeface="Heiti SC"/>
                <a:ea typeface="Heiti SC"/>
              </a:rPr>
              <a:t>合法 prefix cache：cold / hit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70200"/>
            <a:ext cx="152400" cy="101600"/>
          </a:xfrm>
          <a:prstGeom prst="rect">
            <a:avLst/>
          </a:prstGeom>
          <a:solidFill>
            <a:srgbClr val="286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06700"/>
            <a:ext cx="10160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64CF"/>
                </a:solidFill>
                <a:latin typeface="Arial"/>
                <a:ea typeface="Heiti SC"/>
              </a:rPr>
              <a:t>Pilot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9900" y="2870200"/>
            <a:ext cx="152400" cy="1016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8500" y="2806700"/>
            <a:ext cx="10160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87F82"/>
                </a:solidFill>
                <a:latin typeface="Arial"/>
                <a:ea typeface="Heiti SC"/>
              </a:rPr>
              <a:t>Repeat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33600" y="3162300"/>
            <a:ext cx="0" cy="2057400"/>
          </a:xfrm>
          <a:prstGeom prst="line">
            <a:avLst/>
          </a:prstGeom>
          <a:ln w="10160">
            <a:solidFill>
              <a:srgbClr val="D9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55800" y="5308600"/>
            <a:ext cx="355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86C7C"/>
                </a:solidFill>
                <a:latin typeface="Arial"/>
                <a:ea typeface="Heiti SC"/>
              </a:rPr>
              <a:t>0×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429000" y="3162300"/>
            <a:ext cx="0" cy="2057400"/>
          </a:xfrm>
          <a:prstGeom prst="line">
            <a:avLst/>
          </a:prstGeom>
          <a:ln w="10160">
            <a:solidFill>
              <a:srgbClr val="58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251200" y="5308600"/>
            <a:ext cx="355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86C7C"/>
                </a:solidFill>
                <a:latin typeface="Arial"/>
                <a:ea typeface="Heiti SC"/>
              </a:rPr>
              <a:t>1×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24400" y="3162300"/>
            <a:ext cx="0" cy="2057400"/>
          </a:xfrm>
          <a:prstGeom prst="line">
            <a:avLst/>
          </a:prstGeom>
          <a:ln w="10160">
            <a:solidFill>
              <a:srgbClr val="D9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46600" y="5308600"/>
            <a:ext cx="355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86C7C"/>
                </a:solidFill>
                <a:latin typeface="Arial"/>
                <a:ea typeface="Heiti SC"/>
              </a:rPr>
              <a:t>2×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3162300"/>
            <a:ext cx="0" cy="2057400"/>
          </a:xfrm>
          <a:prstGeom prst="line">
            <a:avLst/>
          </a:prstGeom>
          <a:ln w="10160">
            <a:solidFill>
              <a:srgbClr val="D9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42000" y="5308600"/>
            <a:ext cx="355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86C7C"/>
                </a:solidFill>
                <a:latin typeface="Arial"/>
                <a:ea typeface="Heiti SC"/>
              </a:rPr>
              <a:t>3×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251200"/>
            <a:ext cx="1600200" cy="29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C40"/>
                </a:solidFill>
                <a:latin typeface="Arial"/>
                <a:ea typeface="Heiti SC"/>
              </a:rPr>
              <a:t>Optimized C1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33600" y="3200400"/>
            <a:ext cx="1765770" cy="114300"/>
          </a:xfrm>
          <a:prstGeom prst="rect">
            <a:avLst/>
          </a:prstGeom>
          <a:solidFill>
            <a:srgbClr val="286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881542" y="3257550"/>
            <a:ext cx="25289" cy="0"/>
          </a:xfrm>
          <a:prstGeom prst="line">
            <a:avLst/>
          </a:prstGeom>
          <a:ln w="17780">
            <a:solidFill>
              <a:srgbClr val="286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881542" y="3219450"/>
            <a:ext cx="0" cy="76200"/>
          </a:xfrm>
          <a:prstGeom prst="line">
            <a:avLst/>
          </a:prstGeom>
          <a:ln w="17780">
            <a:solidFill>
              <a:srgbClr val="286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906831" y="3219450"/>
            <a:ext cx="0" cy="76200"/>
          </a:xfrm>
          <a:prstGeom prst="line">
            <a:avLst/>
          </a:prstGeom>
          <a:ln w="17780">
            <a:solidFill>
              <a:srgbClr val="286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184900" y="3162300"/>
            <a:ext cx="927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64CF"/>
                </a:solidFill>
                <a:latin typeface="Arial"/>
                <a:ea typeface="Heiti SC"/>
              </a:rPr>
              <a:t>1.363×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33600" y="3378200"/>
            <a:ext cx="1767005" cy="1143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3889396" y="3435350"/>
            <a:ext cx="20325" cy="0"/>
          </a:xfrm>
          <a:prstGeom prst="line">
            <a:avLst/>
          </a:prstGeom>
          <a:ln w="17780">
            <a:solidFill>
              <a:srgbClr val="087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89396" y="3397250"/>
            <a:ext cx="0" cy="76200"/>
          </a:xfrm>
          <a:prstGeom prst="line">
            <a:avLst/>
          </a:prstGeom>
          <a:ln w="17780">
            <a:solidFill>
              <a:srgbClr val="087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909721" y="3397250"/>
            <a:ext cx="0" cy="76200"/>
          </a:xfrm>
          <a:prstGeom prst="line">
            <a:avLst/>
          </a:prstGeom>
          <a:ln w="17780">
            <a:solidFill>
              <a:srgbClr val="087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184900" y="3340100"/>
            <a:ext cx="927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7F82"/>
                </a:solidFill>
                <a:latin typeface="Arial"/>
                <a:ea typeface="Heiti SC"/>
              </a:rPr>
              <a:t>1.364×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759200"/>
            <a:ext cx="1600200" cy="29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C40"/>
                </a:solidFill>
                <a:latin typeface="Arial"/>
                <a:ea typeface="Heiti SC"/>
              </a:rPr>
              <a:t>Optimized C4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33600" y="3708400"/>
            <a:ext cx="3537683" cy="114300"/>
          </a:xfrm>
          <a:prstGeom prst="rect">
            <a:avLst/>
          </a:prstGeom>
          <a:solidFill>
            <a:srgbClr val="286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5651973" y="3765550"/>
            <a:ext cx="30622" cy="0"/>
          </a:xfrm>
          <a:prstGeom prst="line">
            <a:avLst/>
          </a:prstGeom>
          <a:ln w="17780">
            <a:solidFill>
              <a:srgbClr val="286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651973" y="3727450"/>
            <a:ext cx="0" cy="76200"/>
          </a:xfrm>
          <a:prstGeom prst="line">
            <a:avLst/>
          </a:prstGeom>
          <a:ln w="17780">
            <a:solidFill>
              <a:srgbClr val="286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682595" y="3727450"/>
            <a:ext cx="0" cy="76200"/>
          </a:xfrm>
          <a:prstGeom prst="line">
            <a:avLst/>
          </a:prstGeom>
          <a:ln w="17780">
            <a:solidFill>
              <a:srgbClr val="286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184900" y="3670300"/>
            <a:ext cx="927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64CF"/>
                </a:solidFill>
                <a:latin typeface="Arial"/>
                <a:ea typeface="Heiti SC"/>
              </a:rPr>
              <a:t>2.731×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33600" y="3886200"/>
            <a:ext cx="3525896" cy="1143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5644973" y="3943350"/>
            <a:ext cx="18042" cy="0"/>
          </a:xfrm>
          <a:prstGeom prst="line">
            <a:avLst/>
          </a:prstGeom>
          <a:ln w="17780">
            <a:solidFill>
              <a:srgbClr val="087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644973" y="3905250"/>
            <a:ext cx="0" cy="76200"/>
          </a:xfrm>
          <a:prstGeom prst="line">
            <a:avLst/>
          </a:prstGeom>
          <a:ln w="17780">
            <a:solidFill>
              <a:srgbClr val="087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663015" y="3905250"/>
            <a:ext cx="0" cy="76200"/>
          </a:xfrm>
          <a:prstGeom prst="line">
            <a:avLst/>
          </a:prstGeom>
          <a:ln w="17780">
            <a:solidFill>
              <a:srgbClr val="087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184900" y="3848100"/>
            <a:ext cx="927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7F82"/>
                </a:solidFill>
                <a:latin typeface="Arial"/>
                <a:ea typeface="Heiti SC"/>
              </a:rPr>
              <a:t>2.722×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267200"/>
            <a:ext cx="1600200" cy="29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C40"/>
                </a:solidFill>
                <a:latin typeface="Arial"/>
                <a:ea typeface="Heiti SC"/>
              </a:rPr>
              <a:t>Eager C1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33600" y="4216400"/>
            <a:ext cx="1274057" cy="114300"/>
          </a:xfrm>
          <a:prstGeom prst="rect">
            <a:avLst/>
          </a:prstGeom>
          <a:solidFill>
            <a:srgbClr val="286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3376031" y="4273550"/>
            <a:ext cx="34015" cy="0"/>
          </a:xfrm>
          <a:prstGeom prst="line">
            <a:avLst/>
          </a:prstGeom>
          <a:ln w="17780">
            <a:solidFill>
              <a:srgbClr val="286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376031" y="4235450"/>
            <a:ext cx="0" cy="76200"/>
          </a:xfrm>
          <a:prstGeom prst="line">
            <a:avLst/>
          </a:prstGeom>
          <a:ln w="17780">
            <a:solidFill>
              <a:srgbClr val="286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410046" y="4235450"/>
            <a:ext cx="0" cy="76200"/>
          </a:xfrm>
          <a:prstGeom prst="line">
            <a:avLst/>
          </a:prstGeom>
          <a:ln w="17780">
            <a:solidFill>
              <a:srgbClr val="286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184900" y="4178300"/>
            <a:ext cx="927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64CF"/>
                </a:solidFill>
                <a:latin typeface="Arial"/>
                <a:ea typeface="Heiti SC"/>
              </a:rPr>
              <a:t>0.984×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33600" y="4394200"/>
            <a:ext cx="1293442" cy="1143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3378489" y="4451350"/>
            <a:ext cx="84812" cy="0"/>
          </a:xfrm>
          <a:prstGeom prst="line">
            <a:avLst/>
          </a:prstGeom>
          <a:ln w="17780">
            <a:solidFill>
              <a:srgbClr val="087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378489" y="4413250"/>
            <a:ext cx="0" cy="76200"/>
          </a:xfrm>
          <a:prstGeom prst="line">
            <a:avLst/>
          </a:prstGeom>
          <a:ln w="17780">
            <a:solidFill>
              <a:srgbClr val="087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463301" y="4413250"/>
            <a:ext cx="0" cy="76200"/>
          </a:xfrm>
          <a:prstGeom prst="line">
            <a:avLst/>
          </a:prstGeom>
          <a:ln w="17780">
            <a:solidFill>
              <a:srgbClr val="087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184900" y="4356100"/>
            <a:ext cx="927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7F82"/>
                </a:solidFill>
                <a:latin typeface="Arial"/>
                <a:ea typeface="Heiti SC"/>
              </a:rPr>
              <a:t>0.998×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4775200"/>
            <a:ext cx="1600200" cy="29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C40"/>
                </a:solidFill>
                <a:latin typeface="Arial"/>
                <a:ea typeface="Heiti SC"/>
              </a:rPr>
              <a:t>Eager C4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133600" y="4724400"/>
            <a:ext cx="1830406" cy="114300"/>
          </a:xfrm>
          <a:prstGeom prst="rect">
            <a:avLst/>
          </a:prstGeom>
          <a:solidFill>
            <a:srgbClr val="286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3910394" y="4781550"/>
            <a:ext cx="64057" cy="0"/>
          </a:xfrm>
          <a:prstGeom prst="line">
            <a:avLst/>
          </a:prstGeom>
          <a:ln w="17780">
            <a:solidFill>
              <a:srgbClr val="286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910394" y="4743450"/>
            <a:ext cx="0" cy="76200"/>
          </a:xfrm>
          <a:prstGeom prst="line">
            <a:avLst/>
          </a:prstGeom>
          <a:ln w="17780">
            <a:solidFill>
              <a:srgbClr val="286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974451" y="4743450"/>
            <a:ext cx="0" cy="76200"/>
          </a:xfrm>
          <a:prstGeom prst="line">
            <a:avLst/>
          </a:prstGeom>
          <a:ln w="17780">
            <a:solidFill>
              <a:srgbClr val="286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184900" y="4686300"/>
            <a:ext cx="927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64CF"/>
                </a:solidFill>
                <a:latin typeface="Arial"/>
                <a:ea typeface="Heiti SC"/>
              </a:rPr>
              <a:t>1.413×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33600" y="4902200"/>
            <a:ext cx="1797992" cy="1143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3880186" y="4959350"/>
            <a:ext cx="84370" cy="0"/>
          </a:xfrm>
          <a:prstGeom prst="line">
            <a:avLst/>
          </a:prstGeom>
          <a:ln w="17780">
            <a:solidFill>
              <a:srgbClr val="087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880186" y="4921250"/>
            <a:ext cx="0" cy="76200"/>
          </a:xfrm>
          <a:prstGeom prst="line">
            <a:avLst/>
          </a:prstGeom>
          <a:ln w="17780">
            <a:solidFill>
              <a:srgbClr val="087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964556" y="4921250"/>
            <a:ext cx="0" cy="76200"/>
          </a:xfrm>
          <a:prstGeom prst="line">
            <a:avLst/>
          </a:prstGeom>
          <a:ln w="17780">
            <a:solidFill>
              <a:srgbClr val="087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184900" y="4864100"/>
            <a:ext cx="927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7F82"/>
                </a:solidFill>
                <a:latin typeface="Arial"/>
                <a:ea typeface="Heiti SC"/>
              </a:rPr>
              <a:t>1.388×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708900" y="2933700"/>
            <a:ext cx="4025900" cy="2476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924800" y="3111500"/>
            <a:ext cx="1714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86C7C"/>
                </a:solidFill>
                <a:latin typeface="Arial"/>
                <a:ea typeface="Heiti SC"/>
              </a:rPr>
              <a:t>8K / C = 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53600" y="3111500"/>
            <a:ext cx="8509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64CF"/>
                </a:solidFill>
                <a:latin typeface="Arial"/>
                <a:ea typeface="Heiti SC"/>
              </a:rPr>
              <a:t>Pilot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718800" y="3111500"/>
            <a:ext cx="8382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87F82"/>
                </a:solidFill>
                <a:latin typeface="Arial"/>
                <a:ea typeface="Heiti SC"/>
              </a:rPr>
              <a:t>Repeat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24800" y="3568700"/>
            <a:ext cx="17526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C40"/>
                </a:solidFill>
                <a:latin typeface="Heiti SC"/>
                <a:ea typeface="Heiti SC"/>
              </a:rPr>
              <a:t>早期 0-32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53600" y="3568700"/>
            <a:ext cx="9144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64CF"/>
                </a:solidFill>
                <a:latin typeface="Arial"/>
                <a:ea typeface="Heiti SC"/>
              </a:rPr>
              <a:t>1.66×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718800" y="3568700"/>
            <a:ext cx="9144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2"/>
                </a:solidFill>
                <a:latin typeface="Arial"/>
                <a:ea typeface="Heiti SC"/>
              </a:rPr>
              <a:t>1.66×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24800" y="4165600"/>
            <a:ext cx="17526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C40"/>
                </a:solidFill>
                <a:latin typeface="Heiti SC"/>
                <a:ea typeface="Heiti SC"/>
              </a:rPr>
              <a:t>后期 32-127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53600" y="4165600"/>
            <a:ext cx="9144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64CF"/>
                </a:solidFill>
                <a:latin typeface="Arial"/>
                <a:ea typeface="Heiti SC"/>
              </a:rPr>
              <a:t>0.99×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718800" y="4165600"/>
            <a:ext cx="9144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2"/>
                </a:solidFill>
                <a:latin typeface="Arial"/>
                <a:ea typeface="Heiti SC"/>
              </a:rPr>
              <a:t>0.99×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24800" y="4787900"/>
            <a:ext cx="3556000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86C7C"/>
                </a:solidFill>
                <a:latin typeface="Heiti SC"/>
                <a:ea typeface="Heiti SC"/>
              </a:rPr>
              <a:t>前段差异明显，后段接近 1。</a:t>
            </a:r>
          </a:p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86C7C"/>
                </a:solidFill>
                <a:latin typeface="Heiti SC"/>
                <a:ea typeface="Heiti SC"/>
              </a:rPr>
              <a:t>误差线为范围；全部是同机复测。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57200" y="5676900"/>
            <a:ext cx="11277600" cy="419100"/>
          </a:xfrm>
          <a:prstGeom prst="roundRect">
            <a:avLst>
              <a:gd name="adj" fmla="val 8000"/>
            </a:avLst>
          </a:prstGeom>
          <a:solidFill>
            <a:srgbClr val="E8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09600" y="5753100"/>
            <a:ext cx="109728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64CF"/>
                </a:solidFill>
                <a:latin typeface="Heiti SC"/>
                <a:ea typeface="Heiti SC"/>
              </a:rPr>
              <a:t>小计时差不能直接判为截断；快首 token 也可能来自合法缓存命中。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87F82"/>
                </a:solidFill>
                <a:latin typeface="Arial"/>
                <a:ea typeface="Heiti SC"/>
              </a:rPr>
              <a:t>INFERENCE VERIFICATION  /  04 / HONEST VARIABILITY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279400"/>
            <a:ext cx="2184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C7C"/>
                </a:solidFill>
                <a:latin typeface="Heiti SC"/>
                <a:ea typeface="Heiti SC"/>
              </a:rPr>
              <a:t>已测量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62000"/>
            <a:ext cx="11277600" cy="97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C40"/>
                </a:solidFill>
                <a:latin typeface="Heiti SC"/>
                <a:ea typeface="Heiti SC"/>
              </a:rPr>
              <a:t>合法系统变化会移动两类观测量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5300"/>
            <a:ext cx="112776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Token：固定输出也会换分数。Clock：早期流包含调度效应。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73800"/>
            <a:ext cx="11277600" cy="0"/>
          </a:xfrm>
          <a:prstGeom prst="line">
            <a:avLst/>
          </a:prstGeom>
          <a:ln w="12700">
            <a:solidFill>
              <a:srgbClr val="D9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375400"/>
            <a:ext cx="1079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7C"/>
                </a:solidFill>
                <a:latin typeface="Arial"/>
                <a:ea typeface="Heiti SC"/>
              </a:rPr>
              <a:t>cross_gpu_replay_20261018/summary.json  |  scheduling_l40s_20261019/summary.json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604000"/>
            <a:ext cx="105410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86C7C"/>
                </a:solidFill>
                <a:latin typeface="Arial"/>
                <a:ea typeface="Heiti SC"/>
              </a:rPr>
              <a:t>2026-10-20  ·  archived through 2026-10-19  ·  57ceb5e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3000" y="6502400"/>
            <a:ext cx="431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86C7C"/>
                </a:solidFill>
                <a:latin typeface="Arial"/>
                <a:ea typeface="Heiti SC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51100"/>
            <a:ext cx="5473700" cy="3060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59500" y="2451100"/>
            <a:ext cx="5575300" cy="3060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2641600"/>
            <a:ext cx="50673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C40"/>
                </a:solidFill>
                <a:latin typeface="Heiti SC"/>
                <a:ea typeface="Heiti SC"/>
              </a:rPr>
              <a:t>H100 → A100：诚实 token-DiFR 漂移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2700" y="2641600"/>
            <a:ext cx="51181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C40"/>
                </a:solidFill>
                <a:latin typeface="Heiti SC"/>
                <a:ea typeface="Heiti SC"/>
              </a:rPr>
              <a:t>调度预算改变：2,048 → 8,192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82900" y="3175000"/>
            <a:ext cx="0" cy="1524000"/>
          </a:xfrm>
          <a:prstGeom prst="line">
            <a:avLst/>
          </a:prstGeom>
          <a:ln w="12700">
            <a:solidFill>
              <a:srgbClr val="D9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0400" y="3251200"/>
            <a:ext cx="1778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C40"/>
                </a:solidFill>
                <a:latin typeface="Arial"/>
                <a:ea typeface="Heiti SC"/>
              </a:rPr>
              <a:t>Batch 1 eager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63328" y="3352800"/>
            <a:ext cx="789781" cy="0"/>
          </a:xfrm>
          <a:prstGeom prst="line">
            <a:avLst/>
          </a:prstGeom>
          <a:ln w="25400">
            <a:solidFill>
              <a:srgbClr val="286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028375" y="3295650"/>
            <a:ext cx="114300" cy="114300"/>
          </a:xfrm>
          <a:prstGeom prst="ellipse">
            <a:avLst/>
          </a:prstGeom>
          <a:solidFill>
            <a:srgbClr val="286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3700" y="3454400"/>
            <a:ext cx="1371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64CF"/>
                </a:solidFill>
                <a:latin typeface="Arial"/>
                <a:ea typeface="Heiti SC"/>
              </a:rPr>
              <a:t>+0.0059 d′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400" y="3797300"/>
            <a:ext cx="1778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C40"/>
                </a:solidFill>
                <a:latin typeface="Arial"/>
                <a:ea typeface="Heiti SC"/>
              </a:rPr>
              <a:t>Batch 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46357" y="3898900"/>
            <a:ext cx="817917" cy="0"/>
          </a:xfrm>
          <a:prstGeom prst="line">
            <a:avLst/>
          </a:prstGeom>
          <a:ln w="25400">
            <a:solidFill>
              <a:srgbClr val="286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308144" y="3841750"/>
            <a:ext cx="114300" cy="114300"/>
          </a:xfrm>
          <a:prstGeom prst="ellipse">
            <a:avLst/>
          </a:prstGeom>
          <a:solidFill>
            <a:srgbClr val="286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3700" y="4000500"/>
            <a:ext cx="1371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64CF"/>
                </a:solidFill>
                <a:latin typeface="Arial"/>
                <a:ea typeface="Heiti SC"/>
              </a:rPr>
              <a:t>+0.0141 d′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400" y="4343400"/>
            <a:ext cx="1778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C40"/>
                </a:solidFill>
                <a:latin typeface="Arial"/>
                <a:ea typeface="Heiti SC"/>
              </a:rPr>
              <a:t>Sequential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855329" y="4445000"/>
            <a:ext cx="1226911" cy="0"/>
          </a:xfrm>
          <a:prstGeom prst="line">
            <a:avLst/>
          </a:prstGeom>
          <a:ln w="25400">
            <a:solidFill>
              <a:srgbClr val="286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401780" y="4387850"/>
            <a:ext cx="114300" cy="114300"/>
          </a:xfrm>
          <a:prstGeom prst="ellipse">
            <a:avLst/>
          </a:prstGeom>
          <a:solidFill>
            <a:srgbClr val="286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3700" y="4546600"/>
            <a:ext cx="1371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64CF"/>
                </a:solidFill>
                <a:latin typeface="Arial"/>
                <a:ea typeface="Heiti SC"/>
              </a:rPr>
              <a:t>+0.0460 d′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8100" y="4800600"/>
            <a:ext cx="6096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86C7C"/>
                </a:solidFill>
                <a:latin typeface="Arial"/>
                <a:ea typeface="Heiti SC"/>
              </a:rPr>
              <a:t>0.00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6800" y="4800600"/>
            <a:ext cx="6096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86C7C"/>
                </a:solidFill>
                <a:latin typeface="Arial"/>
                <a:ea typeface="Heiti SC"/>
              </a:rPr>
              <a:t>0.03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5500" y="4800600"/>
            <a:ext cx="6096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86C7C"/>
                </a:solidFill>
                <a:latin typeface="Arial"/>
                <a:ea typeface="Heiti SC"/>
              </a:rPr>
              <a:t>0.06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400" y="5156200"/>
            <a:ext cx="50546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586C7C"/>
                </a:solidFill>
                <a:latin typeface="Heiti SC"/>
                <a:ea typeface="Heiti SC"/>
              </a:rPr>
              <a:t>90% 配对序列 bootstrap；仅一次 GPU/driver 对比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2700" y="3251200"/>
            <a:ext cx="3048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C40"/>
                </a:solidFill>
                <a:latin typeface="Heiti SC"/>
                <a:ea typeface="Heiti SC"/>
              </a:rPr>
              <a:t>prefill / generation 混合迭代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85300" y="3225800"/>
            <a:ext cx="21336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7F82"/>
                </a:solidFill>
                <a:latin typeface="Arial"/>
                <a:ea typeface="Heiti SC"/>
              </a:rPr>
              <a:t>13 →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85300" y="3556000"/>
            <a:ext cx="2032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86C7C"/>
                </a:solidFill>
                <a:latin typeface="Heiti SC"/>
                <a:ea typeface="Heiti SC"/>
              </a:rPr>
              <a:t>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2700" y="3835400"/>
            <a:ext cx="3048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C40"/>
                </a:solidFill>
                <a:latin typeface="Heiti SC"/>
                <a:ea typeface="Heiti SC"/>
              </a:rPr>
              <a:t>早期到达间隔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85300" y="3810000"/>
            <a:ext cx="21336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7F82"/>
                </a:solidFill>
                <a:latin typeface="Arial"/>
                <a:ea typeface="Heiti SC"/>
              </a:rPr>
              <a:t>16.93 → 13.70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5300" y="4140200"/>
            <a:ext cx="2032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86C7C"/>
                </a:solidFill>
                <a:latin typeface="Arial"/>
                <a:ea typeface="Heiti SC"/>
              </a:rPr>
              <a:t>ms/token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2700" y="4419600"/>
            <a:ext cx="3048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C40"/>
                </a:solidFill>
                <a:latin typeface="Heiti SC"/>
                <a:ea typeface="Heiti SC"/>
              </a:rPr>
              <a:t>后期到达间隔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85300" y="4394200"/>
            <a:ext cx="21336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7F82"/>
                </a:solidFill>
                <a:latin typeface="Arial"/>
                <a:ea typeface="Heiti SC"/>
              </a:rPr>
              <a:t>11.02 → 11.10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85300" y="4724400"/>
            <a:ext cx="2032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86C7C"/>
                </a:solidFill>
                <a:latin typeface="Arial"/>
                <a:ea typeface="Heiti SC"/>
              </a:rPr>
              <a:t>ms/token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2700" y="5156200"/>
            <a:ext cx="51181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586C7C"/>
                </a:solidFill>
                <a:latin typeface="Heiti SC"/>
                <a:ea typeface="Heiti SC"/>
              </a:rPr>
              <a:t>Nsight；8K / C4 / cache cold；两组中位数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676900"/>
            <a:ext cx="11277600" cy="419100"/>
          </a:xfrm>
          <a:prstGeom prst="roundRect">
            <a:avLst>
              <a:gd name="adj" fmla="val 8000"/>
            </a:avLst>
          </a:prstGeom>
          <a:solidFill>
            <a:srgbClr val="E8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600" y="5753100"/>
            <a:ext cx="109728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864CF"/>
                </a:solidFill>
                <a:latin typeface="Heiti SC"/>
                <a:ea typeface="Heiti SC"/>
              </a:rPr>
              <a:t>论文中的 honest null 必须覆盖允许的执行条件；单一参考分布不足以证明部署可靠性。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87F82"/>
                </a:solidFill>
                <a:latin typeface="Arial"/>
                <a:ea typeface="Heiti SC"/>
              </a:rPr>
              <a:t>INFERENCE VERIFICATION  /  05 / PAPER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279400"/>
            <a:ext cx="2184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C7C"/>
                </a:solidFill>
                <a:latin typeface="Heiti SC"/>
                <a:ea typeface="Heiti SC"/>
              </a:rPr>
              <a:t>写作建议 / 设计待验证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62000"/>
            <a:ext cx="11277600" cy="97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C40"/>
                </a:solidFill>
                <a:latin typeface="Heiti SC"/>
                <a:ea typeface="Heiti SC"/>
              </a:rPr>
              <a:t>已有测量框架；核心技术贡献尚未建立。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5300"/>
            <a:ext cx="112776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最新文献已覆盖混合校准与 vLLM 集成；新主线见 BF16 技术补充 slides。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73800"/>
            <a:ext cx="11277600" cy="0"/>
          </a:xfrm>
          <a:prstGeom prst="line">
            <a:avLst/>
          </a:prstGeom>
          <a:ln w="12700">
            <a:solidFill>
              <a:srgbClr val="D9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375400"/>
            <a:ext cx="1079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7C"/>
                </a:solidFill>
                <a:latin typeface="Arial"/>
                <a:ea typeface="Heiti SC"/>
              </a:rPr>
              <a:t>docs/VERIFICATION_SERVICE.md  |  planning/NEXT_EXPERIMENTS.md  |  MLSys 2027 CFP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604000"/>
            <a:ext cx="105410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86C7C"/>
                </a:solidFill>
                <a:latin typeface="Arial"/>
                <a:ea typeface="Heiti SC"/>
              </a:rPr>
              <a:t>2026-10-20  ·  archived through 2026-10-19  ·  57ceb5e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3000" y="6502400"/>
            <a:ext cx="431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86C7C"/>
                </a:solidFill>
                <a:latin typeface="Arial"/>
                <a:ea typeface="Heiti SC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89200"/>
            <a:ext cx="2667000" cy="1460500"/>
          </a:xfrm>
          <a:prstGeom prst="roundRect">
            <a:avLst>
              <a:gd name="adj" fmla="val 8000"/>
            </a:avLst>
          </a:prstGeom>
          <a:solidFill>
            <a:srgbClr val="E4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2679700"/>
            <a:ext cx="23622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2"/>
                </a:solidFill>
                <a:latin typeface="Heiti SC"/>
                <a:ea typeface="Heiti SC"/>
              </a:rPr>
              <a:t>探测请求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187700"/>
            <a:ext cx="23622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C40"/>
                </a:solidFill>
                <a:latin typeface="Heiti SC"/>
                <a:ea typeface="Heiti SC"/>
              </a:rPr>
              <a:t>长 / 短 context</a:t>
            </a:r>
          </a:p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C40"/>
                </a:solidFill>
                <a:latin typeface="Heiti SC"/>
                <a:ea typeface="Heiti SC"/>
              </a:rPr>
              <a:t>新鲜 prompt / 固定预算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9600" y="3035300"/>
            <a:ext cx="1778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C7C"/>
                </a:solidFill>
                <a:latin typeface="Arial"/>
                <a:ea typeface="Heiti SC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7400" y="2489200"/>
            <a:ext cx="2667000" cy="1460500"/>
          </a:xfrm>
          <a:prstGeom prst="roundRect">
            <a:avLst>
              <a:gd name="adj" fmla="val 8000"/>
            </a:avLst>
          </a:prstGeom>
          <a:solidFill>
            <a:srgbClr val="E8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9800" y="2679700"/>
            <a:ext cx="23622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64CF"/>
                </a:solidFill>
                <a:latin typeface="Heiti SC"/>
                <a:ea typeface="Heiti SC"/>
              </a:rPr>
              <a:t>采集证据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9800" y="3187700"/>
            <a:ext cx="23622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C40"/>
                </a:solidFill>
                <a:latin typeface="Heiti SC"/>
                <a:ea typeface="Heiti SC"/>
              </a:rPr>
              <a:t>tokens + SSE 到达时间</a:t>
            </a:r>
          </a:p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C40"/>
                </a:solidFill>
                <a:latin typeface="Heiti SC"/>
                <a:ea typeface="Heiti SC"/>
              </a:rPr>
              <a:t>精确记录事件合并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9800" y="3035300"/>
            <a:ext cx="1778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C7C"/>
                </a:solidFill>
                <a:latin typeface="Arial"/>
                <a:ea typeface="Heiti SC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7600" y="2489200"/>
            <a:ext cx="2667000" cy="1460500"/>
          </a:xfrm>
          <a:prstGeom prst="roundRect">
            <a:avLst>
              <a:gd name="adj" fmla="val 8000"/>
            </a:avLst>
          </a:prstGeom>
          <a:solidFill>
            <a:srgbClr val="FA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0" y="2679700"/>
            <a:ext cx="23622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A5B2B"/>
                </a:solidFill>
                <a:latin typeface="Heiti SC"/>
                <a:ea typeface="Heiti SC"/>
              </a:rPr>
              <a:t>适用条件 + 校准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0" y="3187700"/>
            <a:ext cx="23622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C40"/>
                </a:solidFill>
                <a:latin typeface="Heiti SC"/>
                <a:ea typeface="Heiti SC"/>
              </a:rPr>
              <a:t>覆盖合法 serving 变化</a:t>
            </a:r>
          </a:p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C40"/>
                </a:solidFill>
                <a:latin typeface="Heiti SC"/>
                <a:ea typeface="Heiti SC"/>
              </a:rPr>
              <a:t>冻结统计量与阈值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0000" y="3035300"/>
            <a:ext cx="1778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C7C"/>
                </a:solidFill>
                <a:latin typeface="Arial"/>
                <a:ea typeface="Heiti SC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67800" y="2489200"/>
            <a:ext cx="2667000" cy="1460500"/>
          </a:xfrm>
          <a:prstGeom prst="roundRect">
            <a:avLst>
              <a:gd name="adj" fmla="val 8000"/>
            </a:avLst>
          </a:prstGeom>
          <a:solidFill>
            <a:srgbClr val="E4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0200" y="2679700"/>
            <a:ext cx="23622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2"/>
                </a:solidFill>
                <a:latin typeface="Heiti SC"/>
                <a:ea typeface="Heiti SC"/>
              </a:rPr>
              <a:t>输出审计结论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0200" y="3187700"/>
            <a:ext cx="23622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C40"/>
                </a:solidFill>
                <a:latin typeface="Heiti SC"/>
                <a:ea typeface="Heiti SC"/>
              </a:rPr>
              <a:t>异常 / 未见异常</a:t>
            </a:r>
          </a:p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C40"/>
                </a:solidFill>
                <a:latin typeface="Heiti SC"/>
                <a:ea typeface="Heiti SC"/>
              </a:rPr>
              <a:t>证据不足 → inconclusive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92600"/>
            <a:ext cx="36068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2"/>
                </a:solidFill>
                <a:latin typeface="Heiti SC"/>
                <a:ea typeface="Heiti SC"/>
              </a:rPr>
              <a:t>C1 / 已有证据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673600"/>
            <a:ext cx="36068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2C40"/>
                </a:solidFill>
                <a:latin typeface="Heiti SC"/>
                <a:ea typeface="Heiti SC"/>
              </a:rPr>
              <a:t>可识别性的边界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118100"/>
            <a:ext cx="36068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6C7C"/>
                </a:solidFill>
                <a:latin typeface="Heiti SC"/>
                <a:ea typeface="Heiti SC"/>
              </a:rPr>
              <a:t>量化、上下文与合法优化</a:t>
            </a:r>
          </a:p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6C7C"/>
                </a:solidFill>
                <a:latin typeface="Heiti SC"/>
                <a:ea typeface="Heiti SC"/>
              </a:rPr>
              <a:t>分别改变哪些观测量？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2600" y="4292600"/>
            <a:ext cx="36068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A5B2B"/>
                </a:solidFill>
                <a:latin typeface="Heiti SC"/>
                <a:ea typeface="Heiti SC"/>
              </a:rPr>
              <a:t>C2 / 部分实现，待验证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2600" y="4673600"/>
            <a:ext cx="36068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2C40"/>
                </a:solidFill>
                <a:latin typeface="Heiti SC"/>
                <a:ea typeface="Heiti SC"/>
              </a:rPr>
              <a:t>有适用条件的审计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2600" y="5118100"/>
            <a:ext cx="36068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6C7C"/>
                </a:solidFill>
                <a:latin typeface="Heiti SC"/>
                <a:ea typeface="Heiti SC"/>
              </a:rPr>
              <a:t>校准何时可用？</a:t>
            </a:r>
          </a:p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6C7C"/>
                </a:solidFill>
                <a:latin typeface="Heiti SC"/>
                <a:ea typeface="Heiti SC"/>
              </a:rPr>
              <a:t>何时应返回证据不足？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8000" y="4292600"/>
            <a:ext cx="36068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A5B2B"/>
                </a:solidFill>
                <a:latin typeface="Heiti SC"/>
                <a:ea typeface="Heiti SC"/>
              </a:rPr>
              <a:t>C3 / 待补主实验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8000" y="4673600"/>
            <a:ext cx="36068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2C40"/>
                </a:solidFill>
                <a:latin typeface="Heiti SC"/>
                <a:ea typeface="Heiti SC"/>
              </a:rPr>
              <a:t>检出率与成本的权衡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0" y="5118100"/>
            <a:ext cx="36068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6C7C"/>
                </a:solidFill>
                <a:latin typeface="Heiti SC"/>
                <a:ea typeface="Heiti SC"/>
              </a:rPr>
              <a:t>固定误报率下</a:t>
            </a:r>
          </a:p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6C7C"/>
                </a:solidFill>
                <a:latin typeface="Heiti SC"/>
                <a:ea typeface="Heiti SC"/>
              </a:rPr>
              <a:t>比较通道、预算和重算成本。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03900"/>
            <a:ext cx="11277600" cy="355600"/>
          </a:xfrm>
          <a:prstGeom prst="roundRect">
            <a:avLst>
              <a:gd name="adj" fmla="val 8000"/>
            </a:avLst>
          </a:prstGeom>
          <a:solidFill>
            <a:srgbClr val="E8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600" y="58801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64CF"/>
                </a:solidFill>
                <a:latin typeface="Heiti SC"/>
                <a:ea typeface="Heiti SC"/>
              </a:rPr>
              <a:t>技术复审：单靠上述框架不足以形成新贡献；需验证新的采样边界建模与复算收益。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87F82"/>
                </a:solidFill>
                <a:latin typeface="Arial"/>
                <a:ea typeface="Heiti SC"/>
              </a:rPr>
              <a:t>INFERENCE VERIFICATION  /  06 / MANUSCRIPT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279400"/>
            <a:ext cx="2184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C7C"/>
                </a:solidFill>
                <a:latin typeface="Heiti SC"/>
                <a:ea typeface="Heiti SC"/>
              </a:rPr>
              <a:t>写作建议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62000"/>
            <a:ext cx="11277600" cy="97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C40"/>
                </a:solidFill>
                <a:latin typeface="Heiti SC"/>
                <a:ea typeface="Heiti SC"/>
              </a:rPr>
              <a:t>10 页正文：每一节只承担一个可验证的论点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5300"/>
            <a:ext cx="112776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章节分配仅为框架；新的技术命题与优先实验见 BF16 技术补充 slides。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73800"/>
            <a:ext cx="11277600" cy="0"/>
          </a:xfrm>
          <a:prstGeom prst="line">
            <a:avLst/>
          </a:prstGeom>
          <a:ln w="12700">
            <a:solidFill>
              <a:srgbClr val="D9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375400"/>
            <a:ext cx="1079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7C"/>
                </a:solidFill>
                <a:latin typeface="Arial"/>
                <a:ea typeface="Heiti SC"/>
              </a:rPr>
              <a:t>paper/paper.tex (August draft)  |  mlsys.org/Conferences/2027/CallForResearchPapers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604000"/>
            <a:ext cx="105410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86C7C"/>
                </a:solidFill>
                <a:latin typeface="Arial"/>
                <a:ea typeface="Heiti SC"/>
              </a:rPr>
              <a:t>2026-10-20  ·  archived through 2026-10-19  ·  57ceb5e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3000" y="6502400"/>
            <a:ext cx="431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86C7C"/>
                </a:solidFill>
                <a:latin typeface="Arial"/>
                <a:ea typeface="Heiti SC"/>
              </a:rPr>
              <a:t>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13000"/>
            <a:ext cx="2133600" cy="355600"/>
          </a:xfrm>
          <a:prstGeom prst="rect">
            <a:avLst/>
          </a:prstGeom>
          <a:solidFill>
            <a:srgbClr val="17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90800" y="2413000"/>
            <a:ext cx="939800" cy="355600"/>
          </a:xfrm>
          <a:prstGeom prst="rect">
            <a:avLst/>
          </a:prstGeom>
          <a:solidFill>
            <a:srgbClr val="17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30600" y="2413000"/>
            <a:ext cx="4241800" cy="355600"/>
          </a:xfrm>
          <a:prstGeom prst="rect">
            <a:avLst/>
          </a:prstGeom>
          <a:solidFill>
            <a:srgbClr val="17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413000"/>
            <a:ext cx="3962400" cy="355600"/>
          </a:xfrm>
          <a:prstGeom prst="rect">
            <a:avLst/>
          </a:prstGeom>
          <a:solidFill>
            <a:srgbClr val="17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4200" y="2489200"/>
            <a:ext cx="1905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eiti SC"/>
                <a:ea typeface="Heiti SC"/>
              </a:rPr>
              <a:t>章节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7800" y="2489200"/>
            <a:ext cx="736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eiti SC"/>
                <a:ea typeface="Heiti SC"/>
              </a:rPr>
              <a:t>页数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89200"/>
            <a:ext cx="39878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eiti SC"/>
                <a:ea typeface="Heiti SC"/>
              </a:rPr>
              <a:t>必须回答的问题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9400" y="2489200"/>
            <a:ext cx="3683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eiti SC"/>
                <a:ea typeface="Heiti SC"/>
              </a:rPr>
              <a:t>主图 / 证据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68600"/>
            <a:ext cx="11277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4200" y="2857500"/>
            <a:ext cx="1905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172C40"/>
                </a:solidFill>
                <a:latin typeface="Heiti SC"/>
                <a:ea typeface="Heiti SC"/>
              </a:rPr>
              <a:t>1  Introduction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7800" y="2857500"/>
            <a:ext cx="711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72C40"/>
                </a:solidFill>
                <a:latin typeface="Heiti SC"/>
                <a:ea typeface="Heiti SC"/>
              </a:rPr>
              <a:t>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857500"/>
            <a:ext cx="4013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72C40"/>
                </a:solidFill>
                <a:latin typeface="Heiti SC"/>
                <a:ea typeface="Heiti SC"/>
              </a:rPr>
              <a:t>为什么真实 serving 使验证不可靠？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9400" y="2857500"/>
            <a:ext cx="37338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72C40"/>
                </a:solidFill>
                <a:latin typeface="Heiti SC"/>
                <a:ea typeface="Heiti SC"/>
              </a:rPr>
              <a:t>F1  合法变化与攻击的观测重叠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149600"/>
            <a:ext cx="11277600" cy="3810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4200" y="3238500"/>
            <a:ext cx="1905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172C40"/>
                </a:solidFill>
                <a:latin typeface="Heiti SC"/>
                <a:ea typeface="Heiti SC"/>
              </a:rPr>
              <a:t>2  Problem /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7800" y="3238500"/>
            <a:ext cx="711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72C40"/>
                </a:solidFill>
                <a:latin typeface="Heiti SC"/>
                <a:ea typeface="Heiti SC"/>
              </a:rPr>
              <a:t>1.0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238500"/>
            <a:ext cx="4013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72C40"/>
                </a:solidFill>
                <a:latin typeface="Heiti SC"/>
                <a:ea typeface="Heiti SC"/>
              </a:rPr>
              <a:t>谁可信？可见什么？允许哪些优化？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9400" y="3238500"/>
            <a:ext cx="37338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72C40"/>
                </a:solidFill>
                <a:latin typeface="Heiti SC"/>
                <a:ea typeface="Heiti SC"/>
              </a:rPr>
              <a:t>通道与威胁模型表；分开 RNG / 激活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530600"/>
            <a:ext cx="11277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4200" y="3619500"/>
            <a:ext cx="1905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172C40"/>
                </a:solidFill>
                <a:latin typeface="Heiti SC"/>
                <a:ea typeface="Heiti SC"/>
              </a:rPr>
              <a:t>3  Characterization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7800" y="3619500"/>
            <a:ext cx="711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72C40"/>
                </a:solidFill>
                <a:latin typeface="Heiti SC"/>
                <a:ea typeface="Heiti SC"/>
              </a:rPr>
              <a:t>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3619500"/>
            <a:ext cx="4013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72C40"/>
                </a:solidFill>
                <a:latin typeface="Heiti SC"/>
                <a:ea typeface="Heiti SC"/>
              </a:rPr>
              <a:t>变化来自数值、执行还是调度？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99400" y="3619500"/>
            <a:ext cx="37338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72C40"/>
                </a:solidFill>
                <a:latin typeface="Heiti SC"/>
                <a:ea typeface="Heiti SC"/>
              </a:rPr>
              <a:t>F2  量化；F3  serving；F4  调度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911600"/>
            <a:ext cx="11277600" cy="3810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4200" y="4000500"/>
            <a:ext cx="1905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172C40"/>
                </a:solidFill>
                <a:latin typeface="Heiti SC"/>
                <a:ea typeface="Heiti SC"/>
              </a:rPr>
              <a:t>4 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17800" y="4000500"/>
            <a:ext cx="711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72C40"/>
                </a:solidFill>
                <a:latin typeface="Heiti SC"/>
                <a:ea typeface="Heiti SC"/>
              </a:rPr>
              <a:t>1.5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4000500"/>
            <a:ext cx="4013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72C40"/>
                </a:solidFill>
                <a:latin typeface="Heiti SC"/>
                <a:ea typeface="Heiti SC"/>
              </a:rPr>
              <a:t>怎样选统计量、校准和拒绝判定？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99400" y="4000500"/>
            <a:ext cx="37338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72C40"/>
                </a:solidFill>
                <a:latin typeface="Heiti SC"/>
                <a:ea typeface="Heiti SC"/>
              </a:rPr>
              <a:t>架构；算法；适用条件（待验证）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292600"/>
            <a:ext cx="11277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4200" y="4381500"/>
            <a:ext cx="1905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172C40"/>
                </a:solidFill>
                <a:latin typeface="Heiti SC"/>
                <a:ea typeface="Heiti SC"/>
              </a:rPr>
              <a:t>5  Evaluation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17800" y="4381500"/>
            <a:ext cx="711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72C40"/>
                </a:solidFill>
                <a:latin typeface="Heiti SC"/>
                <a:ea typeface="Heiti SC"/>
              </a:rPr>
              <a:t>3.5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4381500"/>
            <a:ext cx="4013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72C40"/>
                </a:solidFill>
                <a:latin typeface="Heiti SC"/>
                <a:ea typeface="Heiti SC"/>
              </a:rPr>
              <a:t>固定误报率下，检出率和成本如何？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99400" y="4381500"/>
            <a:ext cx="37338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72C40"/>
                </a:solidFill>
                <a:latin typeface="Heiti SC"/>
                <a:ea typeface="Heiti SC"/>
              </a:rPr>
              <a:t>F5  TPR / FPR / cost 曲线（待补）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673600"/>
            <a:ext cx="11277600" cy="3810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4200" y="4762500"/>
            <a:ext cx="1905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172C40"/>
                </a:solidFill>
                <a:latin typeface="Heiti SC"/>
                <a:ea typeface="Heiti SC"/>
              </a:rPr>
              <a:t>6  Related / Limits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17800" y="4762500"/>
            <a:ext cx="711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72C40"/>
                </a:solidFill>
                <a:latin typeface="Heiti SC"/>
                <a:ea typeface="Heiti SC"/>
              </a:rPr>
              <a:t>1.0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4762500"/>
            <a:ext cx="4013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72C40"/>
                </a:solidFill>
                <a:latin typeface="Heiti SC"/>
                <a:ea typeface="Heiti SC"/>
              </a:rPr>
              <a:t>比已有工作多了什么？何时失败？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99400" y="4762500"/>
            <a:ext cx="37338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72C40"/>
                </a:solidFill>
                <a:latin typeface="Heiti SC"/>
                <a:ea typeface="Heiti SC"/>
              </a:rPr>
              <a:t>相关工作对照；迁移与适应性攻击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245100"/>
            <a:ext cx="112776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586C7C"/>
                </a:solidFill>
                <a:latin typeface="Heiti SC"/>
                <a:ea typeface="Heiti SC"/>
              </a:rPr>
              <a:t>旧稿需重写：单 H100 叙事 → 多层 serving 证据；“模型身份证明” → 有条件的行为异常检验。</a:t>
            </a:r>
          </a:p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586C7C"/>
                </a:solidFill>
                <a:latin typeface="Heiti SC"/>
                <a:ea typeface="Heiti SC"/>
              </a:rPr>
              <a:t>将真实量化与模拟扰动分开；将测量成本、请求成本和参考重算成本分开。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905500"/>
            <a:ext cx="112776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64CF"/>
                </a:solidFill>
                <a:latin typeface="Heiti SC"/>
                <a:ea typeface="Heiti SC"/>
                <a:hlinkClick r:id="rId3"/>
              </a:rPr>
              <a:t>官方格式：10 页双栏；附录单独提交；参考文献后须附 AI Usage Disclosure。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87F82"/>
                </a:solidFill>
                <a:latin typeface="Arial"/>
                <a:ea typeface="Heiti SC"/>
              </a:rPr>
              <a:t>INFERENCE VERIFICATION  /  07 / NEXT DECISIVE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279400"/>
            <a:ext cx="2184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C7C"/>
                </a:solidFill>
                <a:latin typeface="Heiti SC"/>
                <a:ea typeface="Heiti SC"/>
              </a:rPr>
              <a:t>待运行 / 优先级建议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62000"/>
            <a:ext cx="11277600" cy="97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C40"/>
                </a:solidFill>
                <a:latin typeface="Heiti SC"/>
                <a:ea typeface="Heiti SC"/>
              </a:rPr>
              <a:t>先补最能改变论文结论的实验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5300"/>
            <a:ext cx="112776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下面均为建议，尚未运行。先控制误报，再判断是否值得增加检测复杂度。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73800"/>
            <a:ext cx="11277600" cy="0"/>
          </a:xfrm>
          <a:prstGeom prst="line">
            <a:avLst/>
          </a:prstGeom>
          <a:ln w="12700">
            <a:solidFill>
              <a:srgbClr val="D9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375400"/>
            <a:ext cx="1079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7C"/>
                </a:solidFill>
                <a:latin typeface="Arial"/>
                <a:ea typeface="Heiti SC"/>
              </a:rPr>
              <a:t>ROADMAP.md  |  planning/NEXT_EXPERIMENTS.md  |  MLSys 2027 research CFP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604000"/>
            <a:ext cx="105410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86C7C"/>
                </a:solidFill>
                <a:latin typeface="Arial"/>
                <a:ea typeface="Heiti SC"/>
              </a:rPr>
              <a:t>2026-10-20  ·  archived through 2026-10-19  ·  57ceb5e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3000" y="6502400"/>
            <a:ext cx="431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86C7C"/>
                </a:solidFill>
                <a:latin typeface="Arial"/>
                <a:ea typeface="Heiti SC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13000"/>
            <a:ext cx="11277600" cy="76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2300" y="2628900"/>
            <a:ext cx="5842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2"/>
                </a:solidFill>
                <a:latin typeface="Arial"/>
                <a:ea typeface="Heiti SC"/>
              </a:rPr>
              <a:t>P0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6200" y="2501900"/>
            <a:ext cx="35052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C40"/>
                </a:solidFill>
                <a:latin typeface="Heiti SC"/>
                <a:ea typeface="Heiti SC"/>
              </a:rPr>
              <a:t>独立校准 + must-not-flag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3800" y="2514600"/>
            <a:ext cx="65278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586C7C"/>
                </a:solidFill>
                <a:latin typeface="Heiti SC"/>
                <a:ea typeface="Heiti SC"/>
              </a:rPr>
              <a:t>冻结窗口；新 prompt / session；覆盖 eager、缓存、并发。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3800" y="2832100"/>
            <a:ext cx="65278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087F82"/>
                </a:solidFill>
                <a:latin typeface="Heiti SC"/>
                <a:ea typeface="Heiti SC"/>
              </a:rPr>
              <a:t>判据：各合法条件 FPR 的 95% 上界 ≤ 5%。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38500"/>
            <a:ext cx="11277600" cy="76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300" y="3454400"/>
            <a:ext cx="5842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864CF"/>
                </a:solidFill>
                <a:latin typeface="Arial"/>
                <a:ea typeface="Heiti SC"/>
              </a:rPr>
              <a:t>P1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6200" y="3327400"/>
            <a:ext cx="35052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C40"/>
                </a:solidFill>
                <a:latin typeface="Heiti SC"/>
                <a:ea typeface="Heiti SC"/>
              </a:rPr>
              <a:t>同请求通道消融 + 预算曲线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3800" y="3340100"/>
            <a:ext cx="65278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586C7C"/>
                </a:solidFill>
                <a:latin typeface="Heiti SC"/>
                <a:ea typeface="Heiti SC"/>
              </a:rPr>
              <a:t>token / clock / 联合；128 / 512 / 2048 tokens；报告重算与请求成本。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3800" y="3657600"/>
            <a:ext cx="65278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2864CF"/>
                </a:solidFill>
                <a:latin typeface="Heiti SC"/>
                <a:ea typeface="Heiti SC"/>
              </a:rPr>
              <a:t>判据：相同 FPR 下，TPR 或成本确有改善；否则删减设计。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064000"/>
            <a:ext cx="11277600" cy="76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300" y="4279900"/>
            <a:ext cx="5842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864CF"/>
                </a:solidFill>
                <a:latin typeface="Arial"/>
                <a:ea typeface="Heiti SC"/>
              </a:rPr>
              <a:t>P2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6200" y="4152900"/>
            <a:ext cx="35052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C40"/>
                </a:solidFill>
                <a:latin typeface="Heiti SC"/>
                <a:ea typeface="Heiti SC"/>
              </a:rPr>
              <a:t>跨条件迁移 + 实际量化扩展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03800" y="4165600"/>
            <a:ext cx="65278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586C7C"/>
                </a:solidFill>
                <a:latin typeface="Heiti SC"/>
                <a:ea typeface="Heiti SC"/>
              </a:rPr>
              <a:t>新语料、额外 GPU / 模型；匹配真实 NF4 / INT8，随后 AWQ / GPTQ。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03800" y="4483100"/>
            <a:ext cx="65278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2864CF"/>
                </a:solidFill>
                <a:latin typeface="Heiti SC"/>
                <a:ea typeface="Heiti SC"/>
              </a:rPr>
              <a:t>判据：区分阈值迁移成功与需重新校准的条件。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889500"/>
            <a:ext cx="11277600" cy="76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2300" y="5105400"/>
            <a:ext cx="5842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BA5B2B"/>
                </a:solidFill>
                <a:latin typeface="Arial"/>
                <a:ea typeface="Heiti SC"/>
              </a:rPr>
              <a:t>P3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6200" y="4978400"/>
            <a:ext cx="35052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C40"/>
                </a:solidFill>
                <a:latin typeface="Heiti SC"/>
                <a:ea typeface="Heiti SC"/>
              </a:rPr>
              <a:t>适应性 provider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03800" y="4991100"/>
            <a:ext cx="65278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586C7C"/>
                </a:solidFill>
                <a:latin typeface="Heiti SC"/>
                <a:ea typeface="Heiti SC"/>
              </a:rPr>
              <a:t>加入延迟填充与 probe 识别；允许输出 inconclusive。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3800" y="5308600"/>
            <a:ext cx="65278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BA5B2B"/>
                </a:solidFill>
                <a:latin typeface="Heiti SC"/>
                <a:ea typeface="Heiti SC"/>
              </a:rPr>
              <a:t>判据：明确可绕过的范围与审计适用边界。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854700"/>
            <a:ext cx="112776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864CF"/>
                </a:solidFill>
                <a:latin typeface="Heiti SC"/>
                <a:ea typeface="Heiti SC"/>
                <a:hlinkClick r:id="rId3"/>
              </a:rPr>
              <a:t>MLSys 2027 CFP：10 月 30 日 20:00 UTC 截稿（北京时间 10 月 31 日 04:00）。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Inference Verification | 实验进展与 MLSys 论文主线</dc:title>
  <dc:subject>截至 2026-10-20 的归档结果、论文结构和待验证方案</dc:subject>
  <dc:creator>inference-verification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