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BF16 还未解决。</a:t>
            </a:r>
          </a:p>
          <a:p>
            <a:r>
              <a:t>核心创新需要重新收敛。</a:t>
            </a:r>
          </a:p>
          <a:p/>
          <a:p>
            <a:r>
              <a:t>这是对上一版创新性判断的修正。现有工作没有完成新验证算法；本 deck 提出可证伪方向。必须区分重复性、跨执行合法性、检测能力和证明物理精度。</a:t>
            </a:r>
          </a:p>
          <a:p/>
          <a:p>
            <a:r>
              <a:t>DiFR: https://arxiv.org/abs/2511.20621</a:t>
            </a:r>
          </a:p>
          <a:p>
            <a:r>
              <a:t>LLM-42: https://arxiv.org/abs/2601.17768</a:t>
            </a:r>
          </a:p>
          <a:p>
            <a:r>
              <a:t>Bit-Exact: https://arxiv.org/abs/2606.00279</a:t>
            </a:r>
          </a:p>
          <a:p/>
          <a:p>
            <a:r>
              <a:t>Sources:</a:t>
            </a:r>
          </a:p>
          <a:p>
            <a:r>
              <a:t>local archives + primary literature through 2026-10-20</a:t>
            </a:r>
          </a:p>
          <a:p>
            <a:r>
              <a:t>Local source manifest: slides/mlsys-paper-plan/qa/technical/evidence.json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49 个封顶位置，贡献了</a:t>
            </a:r>
          </a:p>
          <a:p>
            <a:r>
              <a:t>诚实 BF16 总分的 98.4%。</a:t>
            </a:r>
          </a:p>
          <a:p/>
          <a:p>
            <a:r>
              <a:t>每组8192个token。封顶值30也可能来自有限大margin，尚不能从分数证明候选集不一致。所有这些位置同时触发本地rank cap50。图为总分质量占比，不是FPR或TPR；BF16含封顶序列32/64也不是误报32/64。不能直接删除封顶事件宣称新检测性能。</a:t>
            </a:r>
          </a:p>
          <a:p/>
          <a:p>
            <a:r>
              <a:t>Sources:</a:t>
            </a:r>
          </a:p>
          <a:p>
            <a:r>
              <a:t>real_quantization_l40s_20261018/pilot/scores.npz</a:t>
            </a:r>
          </a:p>
          <a:p>
            <a:r>
              <a:t>qa/technical/score-tail-diagnostic.json</a:t>
            </a:r>
          </a:p>
          <a:p>
            <a:r>
              <a:t>Local source manifest: slides/mlsys-paper-plan/qa/technical/evidence.json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先把协议差异与硬件误差分开。</a:t>
            </a:r>
          </a:p>
          <a:p/>
          <a:p>
            <a:r>
              <a:t>本地provider float32/verifier float64过滤。NumPy RNG不复现vLLM随机流。top-p注释包括crossing token，代码cum&lt;=p；[.6,.3,.1],p=.7当前只保留第一项。这些是需要对齐的控制变量，不足以认定是历史pilot封顶的主因。合成top-k例子来自分析脚本，非真实模型事件。本次不改采样器。</a:t>
            </a:r>
          </a:p>
          <a:p/>
          <a:p>
            <a:r>
              <a:t>Sources:</a:t>
            </a:r>
          </a:p>
          <a:p>
            <a:r>
              <a:t>ivgym/sampling.py</a:t>
            </a:r>
          </a:p>
          <a:p>
            <a:r>
              <a:t>ivgym/verifiers.py</a:t>
            </a:r>
          </a:p>
          <a:p>
            <a:r>
              <a:t>experiments/exp_real_quantization_gpu.py</a:t>
            </a:r>
          </a:p>
          <a:p>
            <a:r>
              <a:t>Local source manifest: slides/mlsys-paper-plan/qa/technical/evidence.json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对比必须包括最接近的方法，</a:t>
            </a:r>
          </a:p>
          <a:p>
            <a:r>
              <a:t>并匹配可获得的信息。</a:t>
            </a:r>
          </a:p>
          <a:p/>
          <a:p>
            <a:r>
              <a:t>DiFR已包含合法配置混合校准、likelihood与Gaussian Monte Carlo变体。RUT需要本地参考样本，应计入成本。TOPLOC/Activation-DiFR需要provider提供激活信息。不同信息条件单列结果，不混淆为一个公平排行榜。</a:t>
            </a:r>
          </a:p>
          <a:p/>
          <a:p>
            <a:r>
              <a:t>DiFR: https://arxiv.org/abs/2511.20621</a:t>
            </a:r>
          </a:p>
          <a:p>
            <a:r>
              <a:t>TOPLOC: https://arxiv.org/abs/2501.16007</a:t>
            </a:r>
          </a:p>
          <a:p>
            <a:r>
              <a:t>RUT: https://arxiv.org/abs/2506.06975</a:t>
            </a:r>
          </a:p>
          <a:p/>
          <a:p>
            <a:r>
              <a:t>Sources:</a:t>
            </a:r>
          </a:p>
          <a:p>
            <a:r>
              <a:t>DiFR (2025)</a:t>
            </a:r>
          </a:p>
          <a:p>
            <a:r>
              <a:t>TOPLOC (2025)</a:t>
            </a:r>
          </a:p>
          <a:p>
            <a:r>
              <a:t>RUT (2025 / ICLR 2026)</a:t>
            </a:r>
          </a:p>
          <a:p>
            <a:r>
              <a:t>Local source manifest: slides/mlsys-paper-plan/qa/technical/evidence.json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 年工作已深入到</a:t>
            </a:r>
          </a:p>
          <a:p>
            <a:r>
              <a:t>归约树、指令语义与精确回放。</a:t>
            </a:r>
          </a:p>
          <a:p/>
          <a:p>
            <a:r>
              <a:t>这些工作提供不同层级的数值控制。LLM-42的确定性服务与外部恶意provider审计不同。Hawkeye针对Tensor Core矩阵运算；Bit-Exact在测试配置上精确回放模型块，不代表所有模型和未知引擎。Taming已涉及kernel等价类，不能把等价类概念当作新贡献。</a:t>
            </a:r>
          </a:p>
          <a:p/>
          <a:p>
            <a:r>
              <a:t>LLM-42: https://arxiv.org/abs/2601.17768</a:t>
            </a:r>
          </a:p>
          <a:p>
            <a:r>
              <a:t>Hawkeye: https://proceedings.mlsys.org/paper_files/paper/2026/hash/e217c271a57c365a246b0ad39e668ba8-Abstract-Conference.html</a:t>
            </a:r>
          </a:p>
          <a:p>
            <a:r>
              <a:t>Bit-Exact: https://arxiv.org/abs/2606.00279</a:t>
            </a:r>
          </a:p>
          <a:p>
            <a:r>
              <a:t>Taming Bitwise: https://arxiv.org/abs/2609.11356</a:t>
            </a:r>
          </a:p>
          <a:p>
            <a:r>
              <a:t>Tensor Core Models: https://arxiv.org/abs/2512.07004</a:t>
            </a:r>
          </a:p>
          <a:p/>
          <a:p>
            <a:r>
              <a:t>Sources:</a:t>
            </a:r>
          </a:p>
          <a:p>
            <a:r>
              <a:t>primary papers; June / September works below are preprints</a:t>
            </a:r>
          </a:p>
          <a:p>
            <a:r>
              <a:t>Local source manifest: slides/mlsys-paper-plan/qa/technical/evidence.json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从一个参考分数，走向</a:t>
            </a:r>
          </a:p>
          <a:p>
            <a:r>
              <a:t>“合法数值变化能否产生这个 token？”</a:t>
            </a:r>
          </a:p>
          <a:p/>
          <a:p>
            <a:r>
              <a:t>固定prefix、共享随机数与一个合法类别；无过滤或已证明支持集固定时，z_j=l_j+T*g_j。有效区间[L_j,U_j]下，若始终可用的竞争token满足L_j&gt;U_y则claimed y不可能胜出。top-k/p支持集变化必须联合考虑；区间重叠并不证明可达。经验包络只能提供经验校准，不等于形式化certificate。未知执行类别须全部覆盖。</a:t>
            </a:r>
          </a:p>
          <a:p/>
          <a:p>
            <a:r>
              <a:t>Sources:</a:t>
            </a:r>
          </a:p>
          <a:p>
            <a:r>
              <a:t>proposal</a:t>
            </a:r>
          </a:p>
          <a:p>
            <a:r>
              <a:t>planning/BF16_TECHNICAL_NOVELTY.md</a:t>
            </a:r>
          </a:p>
          <a:p>
            <a:r>
              <a:t>Local source manifest: slides/mlsys-paper-plan/qa/technical/evidence.json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用硬件机制缩小不确定性，</a:t>
            </a:r>
          </a:p>
          <a:p>
            <a:r>
              <a:t>把复算花在能消除歧义的位置。</a:t>
            </a:r>
          </a:p>
          <a:p/>
          <a:p>
            <a:r>
              <a:t>合法执行目录必须独立定义；provider自报元信息不是可信证据。同类别p值有效且真实类别被覆盖时max_c p_c对有限并集保守，构造本身不是创新。动态执行须按合法轨迹建模，不能逐token任意选择最有利类别。选择性回放可能仍需整段prefix/KV重建，所有成本必须计入。</a:t>
            </a:r>
          </a:p>
          <a:p/>
          <a:p>
            <a:r>
              <a:t>Hawkeye: https://proceedings.mlsys.org/paper_files/paper/2026/hash/e217c271a57c365a246b0ad39e668ba8-Abstract-Conference.html</a:t>
            </a:r>
          </a:p>
          <a:p>
            <a:r>
              <a:t>LLM-42: https://arxiv.org/abs/2601.17768</a:t>
            </a:r>
          </a:p>
          <a:p>
            <a:r>
              <a:t>Bit-Exact: https://arxiv.org/abs/2606.00279</a:t>
            </a:r>
          </a:p>
          <a:p>
            <a:r>
              <a:t>Taming Bitwise: https://arxiv.org/abs/2609.11356</a:t>
            </a:r>
          </a:p>
          <a:p/>
          <a:p>
            <a:r>
              <a:t>Sources:</a:t>
            </a:r>
          </a:p>
          <a:p>
            <a:r>
              <a:t>proposal</a:t>
            </a:r>
          </a:p>
          <a:p>
            <a:r>
              <a:t>Hawkeye / LLM-42 / Bit-Exact / Taming Bitwise</a:t>
            </a:r>
          </a:p>
          <a:p>
            <a:r>
              <a:t>Local source manifest: slides/mlsys-paper-plan/qa/technical/evidence.json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把系统知识变成干预实验；</a:t>
            </a:r>
          </a:p>
          <a:p>
            <a:r>
              <a:t>clock 暂作辅助证据。</a:t>
            </a:r>
          </a:p>
          <a:p/>
          <a:p>
            <a:r>
              <a:t>vLLM batch invariance的文档范围不等于跨硬件保证。FlashInfer固定split需要对应backend。FA4面向Blackwell，不能将吞吐结论搬到L40S。现有调度干预同时可能改变编译shape；没有DRAM/L2/occupancy计数器。API并发不等于实际batch。量化本地pilot更慢，不能假设半字节数必然更快；恶意延迟填充限制clock可辨识性。</a:t>
            </a:r>
          </a:p>
          <a:p/>
          <a:p>
            <a:r>
              <a:t>vLLM: https://docs.vllm.ai/en/latest/features/batch_invariance/</a:t>
            </a:r>
          </a:p>
          <a:p>
            <a:r>
              <a:t>FlashInfer: https://docs.flashinfer.ai/api/attention.html</a:t>
            </a:r>
          </a:p>
          <a:p>
            <a:r>
              <a:t>Sarathi-Serve: https://www.usenix.org/conference/osdi24/presentation/agrawal</a:t>
            </a:r>
          </a:p>
          <a:p>
            <a:r>
              <a:t>FlashAttention-4: https://arxiv.org/abs/2603.05451</a:t>
            </a:r>
          </a:p>
          <a:p/>
          <a:p>
            <a:r>
              <a:t>Sources:</a:t>
            </a:r>
          </a:p>
          <a:p>
            <a:r>
              <a:t>vLLM / FlashInfer docs</a:t>
            </a:r>
          </a:p>
          <a:p>
            <a:r>
              <a:t>Sarathi-Serve (2024)</a:t>
            </a:r>
          </a:p>
          <a:p>
            <a:r>
              <a:t>FlashAttention-4 (2026)</a:t>
            </a:r>
          </a:p>
          <a:p>
            <a:r>
              <a:t>Local source manifest: slides/mlsys-paper-plan/qa/technical/evidence.json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先做三组能决定方向的实验。</a:t>
            </a:r>
          </a:p>
          <a:p/>
          <a:p>
            <a:r>
              <a:t>先协议归因，再机制干预，最后冻结方法并进行独立评价。FPR按合法条件和独立序列/session报告，多个条件应处理同时覆盖。不能用token数代替独立样本数。拒判率必须报告，避免把不确定样本全部移除得到虚假收益。检测对照包含DiFR margin/likelihood/MC、混合校准和多配置完整回放；RUT与激活方法单列信息条件。</a:t>
            </a:r>
          </a:p>
          <a:p/>
          <a:p>
            <a:r>
              <a:t>Sources:</a:t>
            </a:r>
          </a:p>
          <a:p>
            <a:r>
              <a:t>proposed experiments; no new GPU jobs run</a:t>
            </a:r>
          </a:p>
          <a:p>
            <a:r>
              <a:t>Local source manifest: slides/mlsys-paper-plan/qa/technical/evidence.json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论文围绕一个问题写：</a:t>
            </a:r>
          </a:p>
          <a:p>
            <a:r>
              <a:t>能否既容忍合法 BF16，又保留量化信号？</a:t>
            </a:r>
          </a:p>
          <a:p/>
          <a:p>
            <a:r>
              <a:t>标题为建议，尚无完成的方法和正结果。写作结构：Problem与契约1页，机制1.5页，方法2.5页，系统1页，评估3页，局限/相关工作1页，仅为十页正文的分配建议。若关键命题失败，应收窄为经过充分验证的机制/边界研究，不补写成功结论。</a:t>
            </a:r>
          </a:p>
          <a:p/>
          <a:p>
            <a:r>
              <a:t>Sources:</a:t>
            </a:r>
          </a:p>
          <a:p>
            <a:r>
              <a:t>planning/BF16_TECHNICAL_NOVELTY.md</a:t>
            </a:r>
          </a:p>
          <a:p>
            <a:r>
              <a:t>technical supplement, 2026-10-20</a:t>
            </a:r>
          </a:p>
          <a:p>
            <a:r>
              <a:t>Local source manifest: slides/mlsys-paper-plan/qa/technical/evidence.json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rxiv.org/abs/2511.20621" TargetMode="External"/><Relationship Id="rId4" Type="http://schemas.openxmlformats.org/officeDocument/2006/relationships/hyperlink" Target="https://arxiv.org/abs/2601.17768" TargetMode="External"/><Relationship Id="rId5" Type="http://schemas.openxmlformats.org/officeDocument/2006/relationships/hyperlink" Target="https://arxiv.org/abs/2606.00279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rxiv.org/abs/2511.20621" TargetMode="External"/><Relationship Id="rId4" Type="http://schemas.openxmlformats.org/officeDocument/2006/relationships/hyperlink" Target="https://arxiv.org/abs/2506.06975" TargetMode="External"/><Relationship Id="rId5" Type="http://schemas.openxmlformats.org/officeDocument/2006/relationships/hyperlink" Target="https://arxiv.org/abs/2501.16007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rxiv.org/abs/2601.17768" TargetMode="External"/><Relationship Id="rId4" Type="http://schemas.openxmlformats.org/officeDocument/2006/relationships/hyperlink" Target="https://proceedings.mlsys.org/paper_files/paper/2026/hash/e217c271a57c365a246b0ad39e668ba8-Abstract-Conference.html" TargetMode="External"/><Relationship Id="rId5" Type="http://schemas.openxmlformats.org/officeDocument/2006/relationships/hyperlink" Target="https://arxiv.org/abs/2606.00279" TargetMode="External"/><Relationship Id="rId6" Type="http://schemas.openxmlformats.org/officeDocument/2006/relationships/hyperlink" Target="https://arxiv.org/abs/2609.11356" TargetMode="External"/><Relationship Id="rId7" Type="http://schemas.openxmlformats.org/officeDocument/2006/relationships/hyperlink" Target="https://arxiv.org/abs/2512.07004" TargetMode="External"/><Relationship Id="rId8" Type="http://schemas.openxmlformats.org/officeDocument/2006/relationships/hyperlink" Target="https://thinkingmachines.ai/blog/defeating-nondeterminism-in-llm-inference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flashinfer.ai/api/attention.html" TargetMode="External"/><Relationship Id="rId4" Type="http://schemas.openxmlformats.org/officeDocument/2006/relationships/hyperlink" Target="https://www.usenix.org/conference/osdi24/presentation/agrawal" TargetMode="External"/><Relationship Id="rId5" Type="http://schemas.openxmlformats.org/officeDocument/2006/relationships/hyperlink" Target="https://arxiv.org/abs/2603.05451" TargetMode="External"/><Relationship Id="rId6" Type="http://schemas.openxmlformats.org/officeDocument/2006/relationships/hyperlink" Target="https://docs.vllm.ai/en/latest/features/batch_invariance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7F82"/>
                </a:solidFill>
                <a:latin typeface="Arial"/>
                <a:ea typeface="Heiti SC"/>
              </a:rPr>
              <a:t>INFERENCE VERIFICATION  /  TECHNICAL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279400"/>
            <a:ext cx="218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C7C"/>
                </a:solidFill>
                <a:latin typeface="Heiti SC"/>
                <a:ea typeface="Heiti SC"/>
              </a:rPr>
              <a:t>研究判断 / 尚无新算法结果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2000"/>
            <a:ext cx="11277600" cy="97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BF16 还未解决。</a:t>
            </a:r>
          </a:p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核心创新需要重新收敛。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5300"/>
            <a:ext cx="11277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已有实证基础；“校准 + 多硬件 + 接 vLLM”不足以成为新的核心贡献。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73800"/>
            <a:ext cx="11277600" cy="0"/>
          </a:xfrm>
          <a:prstGeom prst="line">
            <a:avLst/>
          </a:prstGeom>
          <a:ln w="1270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375400"/>
            <a:ext cx="1079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7C"/>
                </a:solidFill>
                <a:latin typeface="Arial"/>
                <a:ea typeface="Heiti SC"/>
              </a:rPr>
              <a:t>local archives + primary literature through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04000"/>
            <a:ext cx="10541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C7C"/>
                </a:solidFill>
                <a:latin typeface="Arial"/>
                <a:ea typeface="Heiti SC"/>
              </a:rPr>
              <a:t>2026-10-20  ·  archived through 2026-10-19  ·  57ceb5e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0" y="6502400"/>
            <a:ext cx="431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Arial"/>
                <a:ea typeface="Heiti SC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657600" cy="233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2819400"/>
            <a:ext cx="31750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F82"/>
                </a:solidFill>
                <a:latin typeface="Arial"/>
                <a:ea typeface="Heiti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" y="3416300"/>
            <a:ext cx="3175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2C40"/>
                </a:solidFill>
                <a:latin typeface="Heiti SC"/>
                <a:ea typeface="Heiti SC"/>
              </a:rPr>
              <a:t>运行可重复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" y="4000500"/>
            <a:ext cx="3175000" cy="787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86C7C"/>
                </a:solidFill>
                <a:latin typeface="Heiti SC"/>
                <a:ea typeface="Heiti SC"/>
              </a:rPr>
              <a:t>同一路径复跑一致</a:t>
            </a:r>
          </a:p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86C7C"/>
                </a:solidFill>
                <a:latin typeface="Heiti SC"/>
                <a:ea typeface="Heiti SC"/>
              </a:rPr>
              <a:t>不等于不同 shape 一致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200" y="2603500"/>
            <a:ext cx="3657600" cy="233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0400" y="2819400"/>
            <a:ext cx="31750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F82"/>
                </a:solidFill>
                <a:latin typeface="Arial"/>
                <a:ea typeface="Heiti S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0400" y="3416300"/>
            <a:ext cx="3175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2C40"/>
                </a:solidFill>
                <a:latin typeface="Heiti SC"/>
                <a:ea typeface="Heiti SC"/>
              </a:rPr>
              <a:t>诚实 BF16 通过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0400" y="4000500"/>
            <a:ext cx="3175000" cy="787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86C7C"/>
                </a:solidFill>
                <a:latin typeface="Heiti SC"/>
                <a:ea typeface="Heiti SC"/>
              </a:rPr>
              <a:t>跨 kernel / GPU / 调度</a:t>
            </a:r>
          </a:p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86C7C"/>
                </a:solidFill>
                <a:latin typeface="Heiti SC"/>
                <a:ea typeface="Heiti SC"/>
              </a:rPr>
              <a:t>误报率仍需独立验证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7200" y="2603500"/>
            <a:ext cx="3657600" cy="233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0400" y="2819400"/>
            <a:ext cx="31750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F82"/>
                </a:solidFill>
                <a:latin typeface="Arial"/>
                <a:ea typeface="Heiti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0400" y="3416300"/>
            <a:ext cx="3175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2C40"/>
                </a:solidFill>
                <a:latin typeface="Heiti SC"/>
                <a:ea typeface="Heiti SC"/>
              </a:rPr>
              <a:t>低精度可检出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400" y="4000500"/>
            <a:ext cx="3175000" cy="787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86C7C"/>
                </a:solidFill>
                <a:latin typeface="Heiti SC"/>
                <a:ea typeface="Heiti SC"/>
              </a:rPr>
              <a:t>真实 INT8 仅检出 5/64</a:t>
            </a:r>
          </a:p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86C7C"/>
                </a:solidFill>
                <a:latin typeface="Heiti SC"/>
                <a:ea typeface="Heiti SC"/>
              </a:rPr>
              <a:t>不够支撑广泛可靠性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181600"/>
            <a:ext cx="11277600" cy="419100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5257800"/>
            <a:ext cx="109728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864CF"/>
                </a:solidFill>
                <a:latin typeface="Heiti SC"/>
                <a:ea typeface="Heiti SC"/>
              </a:rPr>
              <a:t>合理目标：检验明确契约下的行为一致性；不能由 token 无条件证明物理精度。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30900"/>
            <a:ext cx="101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64CF"/>
                </a:solidFill>
                <a:latin typeface="Arial"/>
                <a:ea typeface="Heiti SC"/>
                <a:hlinkClick r:id="rId3"/>
              </a:rPr>
              <a:t>DiFR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51000" y="5930900"/>
            <a:ext cx="101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64CF"/>
                </a:solidFill>
                <a:latin typeface="Arial"/>
                <a:ea typeface="Heiti SC"/>
                <a:hlinkClick r:id="rId4"/>
              </a:rPr>
              <a:t>LLM-42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44800" y="5930900"/>
            <a:ext cx="101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64CF"/>
                </a:solidFill>
                <a:latin typeface="Arial"/>
                <a:ea typeface="Heiti SC"/>
                <a:hlinkClick r:id="rId5"/>
              </a:rPr>
              <a:t>Bit-Exact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7F82"/>
                </a:solidFill>
                <a:latin typeface="Arial"/>
                <a:ea typeface="Heiti SC"/>
              </a:rPr>
              <a:t>INFERENCE VERIFICATION  /  NEW OFFLINE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279400"/>
            <a:ext cx="218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C7C"/>
                </a:solidFill>
                <a:latin typeface="Heiti SC"/>
                <a:ea typeface="Heiti SC"/>
              </a:rPr>
              <a:t>新离线分析 / 归因待验证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2000"/>
            <a:ext cx="11277600" cy="97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49 个封顶位置，贡献了</a:t>
            </a:r>
          </a:p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诚实 BF16 总分的 98.4%。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5300"/>
            <a:ext cx="11277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64 条 × 128 tokens 的原评估切分。少量极端分数值得优先归因。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73800"/>
            <a:ext cx="11277600" cy="0"/>
          </a:xfrm>
          <a:prstGeom prst="line">
            <a:avLst/>
          </a:prstGeom>
          <a:ln w="1270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375400"/>
            <a:ext cx="1079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7C"/>
                </a:solidFill>
                <a:latin typeface="Arial"/>
                <a:ea typeface="Heiti SC"/>
              </a:rPr>
              <a:t>real_quantization_l40s_20261018/pilot/scores.npz  |  qa/technical/score-tail-diagnostic.json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04000"/>
            <a:ext cx="10541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C7C"/>
                </a:solidFill>
                <a:latin typeface="Arial"/>
                <a:ea typeface="Heiti SC"/>
              </a:rPr>
              <a:t>2026-10-20  ·  archived through 2026-10-19  ·  57ceb5e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0" y="6502400"/>
            <a:ext cx="431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Arial"/>
                <a:ea typeface="Heiti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41600"/>
            <a:ext cx="19050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2"/>
                </a:solidFill>
                <a:latin typeface="Arial"/>
                <a:ea typeface="Heiti SC"/>
              </a:rPr>
              <a:t>Honest BF16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76500" y="2679700"/>
            <a:ext cx="6350000" cy="279400"/>
          </a:xfrm>
          <a:prstGeom prst="rect">
            <a:avLst/>
          </a:prstGeom>
          <a:solidFill>
            <a:srgbClr val="D9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76500" y="2679700"/>
            <a:ext cx="6248237" cy="2794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17000" y="2603500"/>
            <a:ext cx="26035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87F82"/>
                </a:solidFill>
                <a:latin typeface="Arial"/>
                <a:ea typeface="Heiti SC"/>
              </a:rPr>
              <a:t>98.40%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6500" y="3022600"/>
            <a:ext cx="8255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Heiti SC"/>
                <a:ea typeface="Heiti SC"/>
              </a:rPr>
              <a:t>封顶位置 49 / 8,192；其余位置贡献剩余总分。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67100"/>
            <a:ext cx="19050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64CF"/>
                </a:solidFill>
                <a:latin typeface="Arial"/>
                <a:ea typeface="Heiti SC"/>
              </a:rPr>
              <a:t>NF4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76500" y="3505200"/>
            <a:ext cx="6350000" cy="279400"/>
          </a:xfrm>
          <a:prstGeom prst="rect">
            <a:avLst/>
          </a:prstGeom>
          <a:solidFill>
            <a:srgbClr val="D9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76500" y="3505200"/>
            <a:ext cx="5984733" cy="279400"/>
          </a:xfrm>
          <a:prstGeom prst="rect">
            <a:avLst/>
          </a:prstGeom>
          <a:solidFill>
            <a:srgbClr val="286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17000" y="3429000"/>
            <a:ext cx="26035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864CF"/>
                </a:solidFill>
                <a:latin typeface="Arial"/>
                <a:ea typeface="Heiti SC"/>
              </a:rPr>
              <a:t>94.25%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76500" y="3848100"/>
            <a:ext cx="8255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Heiti SC"/>
                <a:ea typeface="Heiti SC"/>
              </a:rPr>
              <a:t>封顶位置 252 / 8,192；其余位置贡献剩余总分。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92600"/>
            <a:ext cx="19050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A5B2B"/>
                </a:solidFill>
                <a:latin typeface="Arial"/>
                <a:ea typeface="Heiti SC"/>
              </a:rPr>
              <a:t>INT8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76500" y="4330700"/>
            <a:ext cx="6350000" cy="279400"/>
          </a:xfrm>
          <a:prstGeom prst="rect">
            <a:avLst/>
          </a:prstGeom>
          <a:solidFill>
            <a:srgbClr val="D9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76500" y="4330700"/>
            <a:ext cx="6126913" cy="279400"/>
          </a:xfrm>
          <a:prstGeom prst="rect">
            <a:avLst/>
          </a:prstGeom>
          <a:solidFill>
            <a:srgbClr val="B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17000" y="4254500"/>
            <a:ext cx="26035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BA5B2B"/>
                </a:solidFill>
                <a:latin typeface="Arial"/>
                <a:ea typeface="Heiti SC"/>
              </a:rPr>
              <a:t>96.49%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6500" y="4673600"/>
            <a:ext cx="8255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Heiti SC"/>
                <a:ea typeface="Heiti SC"/>
              </a:rPr>
              <a:t>封顶位置 94 / 8,192；其余位置贡献剩余总分。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168900"/>
            <a:ext cx="112776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C40"/>
                </a:solidFill>
                <a:latin typeface="Heiti SC"/>
                <a:ea typeface="Heiti SC"/>
              </a:rPr>
              <a:t>代码中：候选被 top-k/top-p 排除 → 分数直接记为 30。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676900"/>
            <a:ext cx="11277600" cy="419100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" y="5753100"/>
            <a:ext cx="109728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864CF"/>
                </a:solidFill>
                <a:latin typeface="Heiti SC"/>
                <a:ea typeface="Heiti SC"/>
              </a:rPr>
              <a:t>线索：过滤边界可能放大小误差。下一步要记录原始 logits 与两端候选集。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7F82"/>
                </a:solidFill>
                <a:latin typeface="Arial"/>
                <a:ea typeface="Heiti SC"/>
              </a:rPr>
              <a:t>INFERENCE VERIFICATION  / 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279400"/>
            <a:ext cx="218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C7C"/>
                </a:solidFill>
                <a:latin typeface="Heiti SC"/>
                <a:ea typeface="Heiti SC"/>
              </a:rPr>
              <a:t>代码核对 + 机制假设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2000"/>
            <a:ext cx="11277600" cy="97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先把协议差异与硬件误差分开。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5300"/>
            <a:ext cx="11277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BF16 dtype 不是完整数值契约；输出差异可能在多个环节产生。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73800"/>
            <a:ext cx="11277600" cy="0"/>
          </a:xfrm>
          <a:prstGeom prst="line">
            <a:avLst/>
          </a:prstGeom>
          <a:ln w="1270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375400"/>
            <a:ext cx="1079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7C"/>
                </a:solidFill>
                <a:latin typeface="Arial"/>
                <a:ea typeface="Heiti SC"/>
              </a:rPr>
              <a:t>ivgym/sampling.py  |  ivgym/verifiers.py  |  experiments/exp_real_quantization_gpu.py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04000"/>
            <a:ext cx="10541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C7C"/>
                </a:solidFill>
                <a:latin typeface="Arial"/>
                <a:ea typeface="Heiti SC"/>
              </a:rPr>
              <a:t>2026-10-20  ·  archived through 2026-10-19  ·  57ceb5e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0" y="6502400"/>
            <a:ext cx="431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Arial"/>
                <a:ea typeface="Heiti SC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27300"/>
            <a:ext cx="2692400" cy="1409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679700"/>
            <a:ext cx="23495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2"/>
                </a:solidFill>
                <a:latin typeface="Heiti SC"/>
                <a:ea typeface="Heiti SC"/>
              </a:rPr>
              <a:t>执行路径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200400"/>
            <a:ext cx="2387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C7C"/>
                </a:solidFill>
                <a:latin typeface="Heiti SC"/>
                <a:ea typeface="Heiti SC"/>
              </a:rPr>
              <a:t>GEMM / split-KV</a:t>
            </a:r>
          </a:p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C7C"/>
                </a:solidFill>
                <a:latin typeface="Heiti SC"/>
                <a:ea typeface="Heiti SC"/>
              </a:rPr>
              <a:t>归约、cast、SFU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2300" y="3048000"/>
            <a:ext cx="1524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C7C"/>
                </a:solidFill>
                <a:latin typeface="Heiti SC"/>
                <a:ea typeface="Heiti SC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02000" y="2527300"/>
            <a:ext cx="2692400" cy="1409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4400" y="2679700"/>
            <a:ext cx="23495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864CF"/>
                </a:solidFill>
                <a:latin typeface="Heiti SC"/>
                <a:ea typeface="Heiti SC"/>
              </a:rPr>
              <a:t>数值误差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4400" y="3200400"/>
            <a:ext cx="2387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C7C"/>
                </a:solidFill>
                <a:latin typeface="Heiti SC"/>
                <a:ea typeface="Heiti SC"/>
              </a:rPr>
              <a:t>冻结 prefix 后</a:t>
            </a:r>
          </a:p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C7C"/>
                </a:solidFill>
                <a:latin typeface="Heiti SC"/>
                <a:ea typeface="Heiti SC"/>
              </a:rPr>
              <a:t>定位 logit 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7100" y="3048000"/>
            <a:ext cx="1524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C7C"/>
                </a:solidFill>
                <a:latin typeface="Heiti SC"/>
                <a:ea typeface="Heiti SC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6800" y="2527300"/>
            <a:ext cx="2692400" cy="1409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9200" y="2679700"/>
            <a:ext cx="23495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A5B2B"/>
                </a:solidFill>
                <a:latin typeface="Heiti SC"/>
                <a:ea typeface="Heiti SC"/>
              </a:rPr>
              <a:t>过滤边界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9200" y="3200400"/>
            <a:ext cx="2387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C7C"/>
                </a:solidFill>
                <a:latin typeface="Heiti SC"/>
                <a:ea typeface="Heiti SC"/>
              </a:rPr>
              <a:t>top-k / top-p</a:t>
            </a:r>
          </a:p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C7C"/>
                </a:solidFill>
                <a:latin typeface="Heiti SC"/>
                <a:ea typeface="Heiti SC"/>
              </a:rPr>
              <a:t>候选集离散跳变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900" y="3048000"/>
            <a:ext cx="1524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C7C"/>
                </a:solidFill>
                <a:latin typeface="Heiti SC"/>
                <a:ea typeface="Heiti SC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1600" y="2527300"/>
            <a:ext cx="2692400" cy="1409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679700"/>
            <a:ext cx="23495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24143"/>
                </a:solidFill>
                <a:latin typeface="Heiti SC"/>
                <a:ea typeface="Heiti SC"/>
              </a:rPr>
              <a:t>采样分数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200400"/>
            <a:ext cx="2387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C7C"/>
                </a:solidFill>
                <a:latin typeface="Heiti SC"/>
                <a:ea typeface="Heiti SC"/>
              </a:rPr>
              <a:t>共享随机数下</a:t>
            </a:r>
          </a:p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C7C"/>
                </a:solidFill>
                <a:latin typeface="Heiti SC"/>
                <a:ea typeface="Heiti SC"/>
              </a:rPr>
              <a:t>从 0 跳到封顶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216400"/>
            <a:ext cx="11277600" cy="1219200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700" y="4381500"/>
            <a:ext cx="108458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864CF"/>
                </a:solidFill>
                <a:latin typeface="Heiti SC"/>
                <a:ea typeface="Heiti SC"/>
              </a:rPr>
              <a:t>先做同 logits 的 golden replay，再讨论 GPU 机制。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4851400"/>
            <a:ext cx="10845800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C7C"/>
                </a:solidFill>
                <a:latin typeface="Heiti SC"/>
                <a:ea typeface="Heiti SC"/>
              </a:rPr>
              <a:t>逐项对齐 float32/64 过滤、top-p 边界约定、tie-breaking 和 RNG。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C7C"/>
                </a:solidFill>
                <a:latin typeface="Heiti SC"/>
                <a:ea typeface="Heiti SC"/>
              </a:rPr>
              <a:t>当前 top-p 注释与代码不一致；修订协议后必须重新校准。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676900"/>
            <a:ext cx="11277600" cy="419100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5753100"/>
            <a:ext cx="109728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864CF"/>
                </a:solidFill>
                <a:latin typeface="Heiti SC"/>
                <a:ea typeface="Heiti SC"/>
              </a:rPr>
              <a:t>本次未修改采样器。若只是协议问题，修复基线；不包装成硬件创新。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7F82"/>
                </a:solidFill>
                <a:latin typeface="Arial"/>
                <a:ea typeface="Heiti SC"/>
              </a:rPr>
              <a:t>INFERENCE VERIFICATION  /  RELATED WORK /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279400"/>
            <a:ext cx="218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C7C"/>
                </a:solidFill>
                <a:latin typeface="Heiti SC"/>
                <a:ea typeface="Heiti SC"/>
              </a:rPr>
              <a:t>文献对比 / 必做基线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2000"/>
            <a:ext cx="11277600" cy="97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对比必须包括最接近的方法，</a:t>
            </a:r>
          </a:p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并匹配可获得的信息。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5300"/>
            <a:ext cx="11277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本地 token_toploc 是 token rank 基线，不能当作原版 TOPLOC 或 RUT。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73800"/>
            <a:ext cx="11277600" cy="0"/>
          </a:xfrm>
          <a:prstGeom prst="line">
            <a:avLst/>
          </a:prstGeom>
          <a:ln w="1270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375400"/>
            <a:ext cx="1079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7C"/>
                </a:solidFill>
                <a:latin typeface="Arial"/>
                <a:ea typeface="Heiti SC"/>
              </a:rPr>
              <a:t>DiFR (2025)  |  TOPLOC (2025)  |  RUT (2025 / ICLR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04000"/>
            <a:ext cx="10541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C7C"/>
                </a:solidFill>
                <a:latin typeface="Arial"/>
                <a:ea typeface="Heiti SC"/>
              </a:rPr>
              <a:t>2026-10-20  ·  archived through 2026-10-19  ·  57ceb5e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0" y="6502400"/>
            <a:ext cx="431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Arial"/>
                <a:ea typeface="Heiti SC"/>
              </a:rP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51100"/>
            <a:ext cx="2260600" cy="381000"/>
          </a:xfrm>
          <a:prstGeom prst="rect">
            <a:avLst/>
          </a:prstGeom>
          <a:solidFill>
            <a:srgbClr val="14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" y="2552700"/>
            <a:ext cx="2032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iti SC"/>
                <a:ea typeface="Heiti SC"/>
              </a:rPr>
              <a:t>方法 / 信息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4800" y="2451100"/>
            <a:ext cx="3937000" cy="381000"/>
          </a:xfrm>
          <a:prstGeom prst="rect">
            <a:avLst/>
          </a:prstGeom>
          <a:solidFill>
            <a:srgbClr val="14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9100" y="2552700"/>
            <a:ext cx="3708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iti SC"/>
                <a:ea typeface="Heiti SC"/>
              </a:rPr>
              <a:t>已经做到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34200" y="2451100"/>
            <a:ext cx="4800600" cy="381000"/>
          </a:xfrm>
          <a:prstGeom prst="rect">
            <a:avLst/>
          </a:prstGeom>
          <a:solidFill>
            <a:srgbClr val="14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8500" y="2552700"/>
            <a:ext cx="4572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iti SC"/>
                <a:ea typeface="Heiti SC"/>
              </a:rPr>
              <a:t>我们必须新增什么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33700"/>
            <a:ext cx="2260600" cy="74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" y="3060700"/>
            <a:ext cx="20320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2C40"/>
                </a:solidFill>
                <a:latin typeface="Heiti SC"/>
                <a:ea typeface="Heiti SC"/>
              </a:rPr>
              <a:t>DiFR</a:t>
            </a:r>
          </a:p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2C40"/>
                </a:solidFill>
                <a:latin typeface="Heiti SC"/>
                <a:ea typeface="Heiti SC"/>
              </a:rPr>
              <a:t>共享 RNG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44800" y="2933700"/>
            <a:ext cx="3937000" cy="74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59100" y="3060700"/>
            <a:ext cx="37084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2C40"/>
                </a:solidFill>
                <a:latin typeface="Heiti SC"/>
                <a:ea typeface="Heiti SC"/>
              </a:rPr>
              <a:t>margin / likelihood / 高斯模拟</a:t>
            </a:r>
          </a:p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2C40"/>
                </a:solidFill>
                <a:latin typeface="Heiti SC"/>
                <a:ea typeface="Heiti SC"/>
              </a:rPr>
              <a:t>合法配置混合校准 + vLLM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34200" y="2933700"/>
            <a:ext cx="4800600" cy="74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8500" y="3060700"/>
            <a:ext cx="45720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2C40"/>
                </a:solidFill>
                <a:latin typeface="Heiti SC"/>
                <a:ea typeface="Heiti SC"/>
              </a:rPr>
              <a:t>比通用噪声更紧的采样边界建模</a:t>
            </a:r>
          </a:p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2C40"/>
                </a:solidFill>
                <a:latin typeface="Heiti SC"/>
                <a:ea typeface="Heiti SC"/>
              </a:rPr>
              <a:t>同误报下更好的能力—成本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59200"/>
            <a:ext cx="2260600" cy="74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" y="3886200"/>
            <a:ext cx="20320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2C40"/>
                </a:solidFill>
                <a:latin typeface="Heiti SC"/>
                <a:ea typeface="Heiti SC"/>
              </a:rPr>
              <a:t>RUT</a:t>
            </a:r>
          </a:p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2C40"/>
                </a:solidFill>
                <a:latin typeface="Heiti SC"/>
                <a:ea typeface="Heiti SC"/>
              </a:rPr>
              <a:t>无共享 RNG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4800" y="3759200"/>
            <a:ext cx="3937000" cy="74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59100" y="3886200"/>
            <a:ext cx="37084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2C40"/>
                </a:solidFill>
                <a:latin typeface="Heiti SC"/>
                <a:ea typeface="Heiti SC"/>
              </a:rPr>
              <a:t>以本地参考样本校准秩统计</a:t>
            </a:r>
          </a:p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2C40"/>
                </a:solidFill>
                <a:latin typeface="Heiti SC"/>
                <a:ea typeface="Heiti SC"/>
              </a:rPr>
              <a:t>面向黑盒行为分布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34200" y="3759200"/>
            <a:ext cx="4800600" cy="74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8500" y="3886200"/>
            <a:ext cx="45720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2C40"/>
                </a:solidFill>
                <a:latin typeface="Heiti SC"/>
                <a:ea typeface="Heiti SC"/>
              </a:rPr>
              <a:t>单列 seed-free 对照</a:t>
            </a:r>
          </a:p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2C40"/>
                </a:solidFill>
                <a:latin typeface="Heiti SC"/>
                <a:ea typeface="Heiti SC"/>
              </a:rPr>
              <a:t>参考采样不是免费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84700"/>
            <a:ext cx="2260600" cy="74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" y="4711700"/>
            <a:ext cx="20320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2C40"/>
                </a:solidFill>
                <a:latin typeface="Heiti SC"/>
                <a:ea typeface="Heiti SC"/>
              </a:rPr>
              <a:t>TOPLOC / Act-DiFR</a:t>
            </a:r>
          </a:p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2C40"/>
                </a:solidFill>
                <a:latin typeface="Heiti SC"/>
                <a:ea typeface="Heiti SC"/>
              </a:rPr>
              <a:t>需要 provider 激活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44800" y="4584700"/>
            <a:ext cx="3937000" cy="74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59100" y="4711700"/>
            <a:ext cx="37084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2C40"/>
                </a:solidFill>
                <a:latin typeface="Heiti SC"/>
                <a:ea typeface="Heiti SC"/>
              </a:rPr>
              <a:t>中间状态的压缩指纹比较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34200" y="4584700"/>
            <a:ext cx="4800600" cy="74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8500" y="4711700"/>
            <a:ext cx="45720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2C40"/>
                </a:solidFill>
                <a:latin typeface="Heiti SC"/>
                <a:ea typeface="Heiti SC"/>
              </a:rPr>
              <a:t>单列合作式验证条件</a:t>
            </a:r>
          </a:p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2C40"/>
                </a:solidFill>
                <a:latin typeface="Heiti SC"/>
                <a:ea typeface="Heiti SC"/>
              </a:rPr>
              <a:t>不能用额外状态暗中增强 token-only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562600"/>
            <a:ext cx="11277600" cy="368300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600" y="5638800"/>
            <a:ext cx="109728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864CF"/>
                </a:solidFill>
                <a:latin typeface="Heiti SC"/>
                <a:ea typeface="Heiti SC"/>
              </a:rPr>
              <a:t>“混合校准 + 新打分 + 接 serving”不足；要证明机制建模带来独立收益。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019800"/>
            <a:ext cx="101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64CF"/>
                </a:solidFill>
                <a:latin typeface="Arial"/>
                <a:ea typeface="Heiti SC"/>
                <a:hlinkClick r:id="rId3"/>
              </a:rPr>
              <a:t>DiFR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51000" y="6019800"/>
            <a:ext cx="101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64CF"/>
                </a:solidFill>
                <a:latin typeface="Arial"/>
                <a:ea typeface="Heiti SC"/>
                <a:hlinkClick r:id="rId4"/>
              </a:rPr>
              <a:t>RUT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44800" y="6019800"/>
            <a:ext cx="101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64CF"/>
                </a:solidFill>
                <a:latin typeface="Arial"/>
                <a:ea typeface="Heiti SC"/>
                <a:hlinkClick r:id="rId5"/>
              </a:rPr>
              <a:t>TOPLOC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7F82"/>
                </a:solidFill>
                <a:latin typeface="Arial"/>
                <a:ea typeface="Heiti SC"/>
              </a:rPr>
              <a:t>INFERENCE VERIFICATION  /  RELATED WORK /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279400"/>
            <a:ext cx="218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C7C"/>
                </a:solidFill>
                <a:latin typeface="Heiti SC"/>
                <a:ea typeface="Heiti SC"/>
              </a:rPr>
              <a:t>最新技术定位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2000"/>
            <a:ext cx="11277600" cy="97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2026 年工作已深入到</a:t>
            </a:r>
          </a:p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归约树、指令语义与精确回放。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5300"/>
            <a:ext cx="11277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硬件知识应成为方法的约束和干预手段；仅指出浮点非结合性已经不够。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73800"/>
            <a:ext cx="11277600" cy="0"/>
          </a:xfrm>
          <a:prstGeom prst="line">
            <a:avLst/>
          </a:prstGeom>
          <a:ln w="1270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375400"/>
            <a:ext cx="1079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7C"/>
                </a:solidFill>
                <a:latin typeface="Arial"/>
                <a:ea typeface="Heiti SC"/>
              </a:rPr>
              <a:t>primary papers; June / September works below are preprints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04000"/>
            <a:ext cx="10541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C7C"/>
                </a:solidFill>
                <a:latin typeface="Arial"/>
                <a:ea typeface="Heiti SC"/>
              </a:rPr>
              <a:t>2026-10-20  ·  archived through 2026-10-19  ·  57ceb5e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0" y="6502400"/>
            <a:ext cx="431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Arial"/>
                <a:ea typeface="Heiti SC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25700"/>
            <a:ext cx="11277600" cy="673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552700"/>
            <a:ext cx="33909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64CF"/>
                </a:solidFill>
                <a:latin typeface="Heiti SC"/>
                <a:ea typeface="Heiti SC"/>
                <a:hlinkClick r:id="rId3"/>
              </a:rPr>
              <a:t>LLM-42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7500" y="2527300"/>
            <a:ext cx="44069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3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172C40"/>
                </a:solidFill>
                <a:latin typeface="Heiti SC"/>
                <a:ea typeface="Heiti SC"/>
              </a:rPr>
              <a:t>快速解码 + 固定形状窗口验证 / 回滚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300" y="2527300"/>
            <a:ext cx="28321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86C7C"/>
                </a:solidFill>
                <a:latin typeface="Heiti SC"/>
                <a:ea typeface="Heiti SC"/>
              </a:rPr>
              <a:t>固定窗口回放本身已有先例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75000"/>
            <a:ext cx="11277600" cy="673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3302000"/>
            <a:ext cx="33909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64CF"/>
                </a:solidFill>
                <a:latin typeface="Heiti SC"/>
                <a:ea typeface="Heiti SC"/>
                <a:hlinkClick r:id="rId4"/>
              </a:rPr>
              <a:t>Hawkeye · MLSys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27500" y="3276600"/>
            <a:ext cx="44069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3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172C40"/>
                </a:solidFill>
                <a:latin typeface="Heiti SC"/>
                <a:ea typeface="Heiti SC"/>
              </a:rPr>
              <a:t>Tensor Core matmul 数值建模 / CPU 回放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300" y="3276600"/>
            <a:ext cx="28321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86C7C"/>
                </a:solidFill>
                <a:latin typeface="Heiti SC"/>
                <a:ea typeface="Heiti SC"/>
              </a:rPr>
              <a:t>从实际归约与舍入语义入手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24300"/>
            <a:ext cx="11277600" cy="673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4051300"/>
            <a:ext cx="33909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64CF"/>
                </a:solidFill>
                <a:latin typeface="Heiti SC"/>
                <a:ea typeface="Heiti SC"/>
                <a:hlinkClick r:id="rId5"/>
              </a:rPr>
              <a:t>Bit-Exact · 2026-06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27500" y="4025900"/>
            <a:ext cx="44069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3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172C40"/>
                </a:solidFill>
                <a:latin typeface="Heiti SC"/>
                <a:ea typeface="Heiti SC"/>
              </a:rPr>
              <a:t>Tensor Core、SFU、cast 与模型块精确回放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300" y="4025900"/>
            <a:ext cx="28321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86C7C"/>
                </a:solidFill>
                <a:latin typeface="Heiti SC"/>
                <a:ea typeface="Heiti SC"/>
              </a:rPr>
              <a:t>对照完整回放的执行信息与成本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673600"/>
            <a:ext cx="11277600" cy="673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4800600"/>
            <a:ext cx="33909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64CF"/>
                </a:solidFill>
                <a:latin typeface="Heiti SC"/>
                <a:ea typeface="Heiti SC"/>
                <a:hlinkClick r:id="rId6"/>
              </a:rPr>
              <a:t>Taming Bitwise · 2026-09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27500" y="4775200"/>
            <a:ext cx="44069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3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172C40"/>
                </a:solidFill>
                <a:latin typeface="Heiti SC"/>
                <a:ea typeface="Heiti SC"/>
              </a:rPr>
              <a:t>归约描述、编译约束、静态验证 / 等价类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0300" y="4775200"/>
            <a:ext cx="28321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86C7C"/>
                </a:solidFill>
                <a:latin typeface="Heiti SC"/>
                <a:ea typeface="Heiti SC"/>
              </a:rPr>
              <a:t>机会在跨层到采样的组合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562600"/>
            <a:ext cx="11277600" cy="368300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" y="5638800"/>
            <a:ext cx="109728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864CF"/>
                </a:solidFill>
                <a:latin typeface="Heiti SC"/>
                <a:ea typeface="Heiti SC"/>
              </a:rPr>
              <a:t>候选空白：把底层数值约束组合成采样决定，并让按需验证确实省成本。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019800"/>
            <a:ext cx="1727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64CF"/>
                </a:solidFill>
                <a:latin typeface="Arial"/>
                <a:ea typeface="Heiti SC"/>
                <a:hlinkClick r:id="rId7"/>
              </a:rPr>
              <a:t>Tensor Core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62200" y="6019800"/>
            <a:ext cx="1549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64CF"/>
                </a:solidFill>
                <a:latin typeface="Arial"/>
                <a:ea typeface="Heiti SC"/>
                <a:hlinkClick r:id="rId8"/>
              </a:rPr>
              <a:t>Batch invariance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7F82"/>
                </a:solidFill>
                <a:latin typeface="Arial"/>
                <a:ea typeface="Heiti SC"/>
              </a:rPr>
              <a:t>INFERENCE VERIFICATION  /  PROPOSED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279400"/>
            <a:ext cx="218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C7C"/>
                </a:solidFill>
                <a:latin typeface="Heiti SC"/>
                <a:ea typeface="Heiti SC"/>
              </a:rPr>
              <a:t>算法设计 / 待验证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2000"/>
            <a:ext cx="11277600" cy="97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从一个参考分数，走向</a:t>
            </a:r>
          </a:p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“合法数值变化能否产生这个 token？”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5300"/>
            <a:ext cx="11277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候选方案：考虑候选集变化的数值一致性验证。尚未实现或验证收益。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73800"/>
            <a:ext cx="11277600" cy="0"/>
          </a:xfrm>
          <a:prstGeom prst="line">
            <a:avLst/>
          </a:prstGeom>
          <a:ln w="1270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375400"/>
            <a:ext cx="1079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7C"/>
                </a:solidFill>
                <a:latin typeface="Arial"/>
                <a:ea typeface="Heiti SC"/>
              </a:rPr>
              <a:t>proposal  |  planning/BF16_TECHNICAL_NOVELTY.md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04000"/>
            <a:ext cx="10541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C7C"/>
                </a:solidFill>
                <a:latin typeface="Arial"/>
                <a:ea typeface="Heiti SC"/>
              </a:rPr>
              <a:t>2026-10-20  ·  archived through 2026-10-19  ·  57ceb5e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0" y="6502400"/>
            <a:ext cx="431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Arial"/>
                <a:ea typeface="Heiti SC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51100"/>
            <a:ext cx="5359400" cy="287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2641600"/>
            <a:ext cx="49530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2"/>
                </a:solidFill>
                <a:latin typeface="Heiti SC"/>
                <a:ea typeface="Heiti SC"/>
              </a:rPr>
              <a:t>固定候选集：先解决可控子问题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" y="3124200"/>
            <a:ext cx="49530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2C40"/>
                </a:solidFill>
                <a:latin typeface="Arial"/>
                <a:ea typeface="Heiti SC"/>
              </a:rPr>
              <a:t>z[j] = logit[j] + T * g[j]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" y="3556000"/>
            <a:ext cx="4953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C7C"/>
                </a:solidFill>
                <a:latin typeface="Heiti SC"/>
                <a:ea typeface="Heiti SC"/>
              </a:rPr>
              <a:t>合法变化下，z[j] 位于区间 [L[j], U[j]]。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400" y="4051300"/>
            <a:ext cx="49530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864CF"/>
                </a:solidFill>
                <a:latin typeface="Heiti SC"/>
                <a:ea typeface="Heiti SC"/>
              </a:rPr>
              <a:t>若某个合法竞争者： L[j] &gt; U[y]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400" y="4622800"/>
            <a:ext cx="49530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则 claimed token y 不可能获胜。</a:t>
            </a:r>
          </a:p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区间重叠 → 仍有歧义，不能直接判通过。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9800" y="2451100"/>
            <a:ext cx="5715000" cy="287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3000" y="2641600"/>
            <a:ext cx="530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A5B2B"/>
                </a:solidFill>
                <a:latin typeface="Heiti SC"/>
                <a:ea typeface="Heiti SC"/>
              </a:rPr>
              <a:t>难点：top-k / top-p 的离散边界</a:t>
            </a:r>
          </a:p>
        </p:txBody>
      </p:sp>
      <p:sp>
        <p:nvSpPr>
          <p:cNvPr id="19" name="Oval 18"/>
          <p:cNvSpPr/>
          <p:nvPr/>
        </p:nvSpPr>
        <p:spPr>
          <a:xfrm>
            <a:off x="6261100" y="3276600"/>
            <a:ext cx="76200" cy="76200"/>
          </a:xfrm>
          <a:prstGeom prst="ellipse">
            <a:avLst/>
          </a:prstGeom>
          <a:solidFill>
            <a:srgbClr val="B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300" y="3162300"/>
            <a:ext cx="50038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C40"/>
                </a:solidFill>
                <a:latin typeface="Heiti SC"/>
                <a:ea typeface="Heiti SC"/>
              </a:rPr>
              <a:t>同时约束 logit 与候选成员资格</a:t>
            </a:r>
          </a:p>
        </p:txBody>
      </p:sp>
      <p:sp>
        <p:nvSpPr>
          <p:cNvPr id="21" name="Oval 20"/>
          <p:cNvSpPr/>
          <p:nvPr/>
        </p:nvSpPr>
        <p:spPr>
          <a:xfrm>
            <a:off x="6261100" y="3784600"/>
            <a:ext cx="76200" cy="76200"/>
          </a:xfrm>
          <a:prstGeom prst="ellipse">
            <a:avLst/>
          </a:prstGeom>
          <a:solidFill>
            <a:srgbClr val="B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300" y="3670300"/>
            <a:ext cx="50038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C40"/>
                </a:solidFill>
                <a:latin typeface="Heiti SC"/>
                <a:ea typeface="Heiti SC"/>
              </a:rPr>
              <a:t>保留跨层误差相关性，避免区间膨胀</a:t>
            </a:r>
          </a:p>
        </p:txBody>
      </p:sp>
      <p:sp>
        <p:nvSpPr>
          <p:cNvPr id="23" name="Oval 22"/>
          <p:cNvSpPr/>
          <p:nvPr/>
        </p:nvSpPr>
        <p:spPr>
          <a:xfrm>
            <a:off x="6261100" y="4292600"/>
            <a:ext cx="76200" cy="76200"/>
          </a:xfrm>
          <a:prstGeom prst="ellipse">
            <a:avLst/>
          </a:prstGeom>
          <a:solidFill>
            <a:srgbClr val="B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300" y="4178300"/>
            <a:ext cx="50038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C40"/>
                </a:solidFill>
                <a:latin typeface="Heiti SC"/>
                <a:ea typeface="Heiti SC"/>
              </a:rPr>
              <a:t>剪枝不可能的候选集；歧义触发复算</a:t>
            </a:r>
          </a:p>
        </p:txBody>
      </p:sp>
      <p:sp>
        <p:nvSpPr>
          <p:cNvPr id="25" name="Oval 24"/>
          <p:cNvSpPr/>
          <p:nvPr/>
        </p:nvSpPr>
        <p:spPr>
          <a:xfrm>
            <a:off x="6261100" y="4800600"/>
            <a:ext cx="76200" cy="76200"/>
          </a:xfrm>
          <a:prstGeom prst="ellipse">
            <a:avLst/>
          </a:prstGeom>
          <a:solidFill>
            <a:srgbClr val="B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300" y="4686300"/>
            <a:ext cx="50038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C40"/>
                </a:solidFill>
                <a:latin typeface="Heiti SC"/>
                <a:ea typeface="Heiti SC"/>
              </a:rPr>
              <a:t>无法收紧时输出 inconclusive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676900"/>
            <a:ext cx="11277600" cy="419100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" y="5753100"/>
            <a:ext cx="109728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864CF"/>
                </a:solidFill>
                <a:latin typeface="Heiti SC"/>
                <a:ea typeface="Heiti SC"/>
              </a:rPr>
              <a:t>核心区别必须来自边界建模与误差约束；DiFR 已有 Gaussian Monte Carlo。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7F82"/>
                </a:solidFill>
                <a:latin typeface="Arial"/>
                <a:ea typeface="Heiti SC"/>
              </a:rPr>
              <a:t>INFERENCE VERIFICATION  / 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279400"/>
            <a:ext cx="218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C7C"/>
                </a:solidFill>
                <a:latin typeface="Heiti SC"/>
                <a:ea typeface="Heiti SC"/>
              </a:rPr>
              <a:t>系统设计 / 成本待测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2000"/>
            <a:ext cx="11277600" cy="97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用硬件机制缩小不确定性，</a:t>
            </a:r>
          </a:p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把复算花在能消除歧义的位置。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5300"/>
            <a:ext cx="11277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这不是“多加几次 replay”：必须测出相同错误率下的验证成本收益。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73800"/>
            <a:ext cx="11277600" cy="0"/>
          </a:xfrm>
          <a:prstGeom prst="line">
            <a:avLst/>
          </a:prstGeom>
          <a:ln w="1270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375400"/>
            <a:ext cx="1079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7C"/>
                </a:solidFill>
                <a:latin typeface="Arial"/>
                <a:ea typeface="Heiti SC"/>
              </a:rPr>
              <a:t>proposal  |  Hawkeye / LLM-42 / Bit-Exact / Taming Bitwise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04000"/>
            <a:ext cx="10541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C7C"/>
                </a:solidFill>
                <a:latin typeface="Arial"/>
                <a:ea typeface="Heiti SC"/>
              </a:rPr>
              <a:t>2026-10-20  ·  archived through 2026-10-19  ·  57ceb5e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0" y="6502400"/>
            <a:ext cx="431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Arial"/>
                <a:ea typeface="Heiti SC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27300"/>
            <a:ext cx="2692400" cy="1943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300" y="2692400"/>
            <a:ext cx="23368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2"/>
                </a:solidFill>
                <a:latin typeface="Arial"/>
                <a:ea typeface="Heiti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00" y="3162300"/>
            <a:ext cx="23368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C40"/>
                </a:solidFill>
                <a:latin typeface="Heiti SC"/>
                <a:ea typeface="Heiti SC"/>
              </a:rPr>
              <a:t>合法执行目录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300" y="3708400"/>
            <a:ext cx="2336800" cy="622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69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C7C"/>
                </a:solidFill>
                <a:latin typeface="Heiti SC"/>
                <a:ea typeface="Heiti SC"/>
              </a:rPr>
              <a:t>GPU / kernel / shape</a:t>
            </a:r>
          </a:p>
          <a:p>
            <a:pPr algn="l">
              <a:lnSpc>
                <a:spcPts val="1769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C7C"/>
                </a:solidFill>
                <a:latin typeface="Heiti SC"/>
                <a:ea typeface="Heiti SC"/>
              </a:rPr>
              <a:t>归约、cast、采样协议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02000" y="2527300"/>
            <a:ext cx="2692400" cy="1943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7100" y="2692400"/>
            <a:ext cx="23368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2"/>
                </a:solidFill>
                <a:latin typeface="Arial"/>
                <a:ea typeface="Heiti S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7100" y="3162300"/>
            <a:ext cx="23368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C40"/>
                </a:solidFill>
                <a:latin typeface="Heiti SC"/>
                <a:ea typeface="Heiti SC"/>
              </a:rPr>
              <a:t>一次参考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7100" y="3708400"/>
            <a:ext cx="2336800" cy="622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69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C7C"/>
                </a:solidFill>
                <a:latin typeface="Heiti SC"/>
                <a:ea typeface="Heiti SC"/>
              </a:rPr>
              <a:t>估计数值不确定性</a:t>
            </a:r>
          </a:p>
          <a:p>
            <a:pPr algn="l">
              <a:lnSpc>
                <a:spcPts val="1769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C7C"/>
                </a:solidFill>
                <a:latin typeface="Heiti SC"/>
                <a:ea typeface="Heiti SC"/>
              </a:rPr>
              <a:t>判定支持集是否稳定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6800" y="2527300"/>
            <a:ext cx="2692400" cy="1943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1900" y="2692400"/>
            <a:ext cx="23368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2"/>
                </a:solidFill>
                <a:latin typeface="Arial"/>
                <a:ea typeface="Heiti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1900" y="3162300"/>
            <a:ext cx="23368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C40"/>
                </a:solidFill>
                <a:latin typeface="Heiti SC"/>
                <a:ea typeface="Heiti SC"/>
              </a:rPr>
              <a:t>按需精确回放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1900" y="3708400"/>
            <a:ext cx="2336800" cy="622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69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C7C"/>
                </a:solidFill>
                <a:latin typeface="Heiti SC"/>
                <a:ea typeface="Heiti SC"/>
              </a:rPr>
              <a:t>歧义位置 / 窗口</a:t>
            </a:r>
          </a:p>
          <a:p>
            <a:pPr algn="l">
              <a:lnSpc>
                <a:spcPts val="1769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C7C"/>
                </a:solidFill>
                <a:latin typeface="Heiti SC"/>
                <a:ea typeface="Heiti SC"/>
              </a:rPr>
              <a:t>复用可信 prefix 状态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1600" y="2527300"/>
            <a:ext cx="2692400" cy="1943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6700" y="2692400"/>
            <a:ext cx="23368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2"/>
                </a:solidFill>
                <a:latin typeface="Arial"/>
                <a:ea typeface="Heiti S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6700" y="3162300"/>
            <a:ext cx="23368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C40"/>
                </a:solidFill>
                <a:latin typeface="Heiti SC"/>
                <a:ea typeface="Heiti SC"/>
              </a:rPr>
              <a:t>冻结规则评估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6700" y="3708400"/>
            <a:ext cx="2336800" cy="622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69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C7C"/>
                </a:solidFill>
                <a:latin typeface="Heiti SC"/>
                <a:ea typeface="Heiti SC"/>
              </a:rPr>
              <a:t>异常 / 未排除 / 拒判</a:t>
            </a:r>
          </a:p>
          <a:p>
            <a:pPr algn="l">
              <a:lnSpc>
                <a:spcPts val="1769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C7C"/>
                </a:solidFill>
                <a:latin typeface="Heiti SC"/>
                <a:ea typeface="Heiti SC"/>
              </a:rPr>
              <a:t>独立校准与测试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37100"/>
            <a:ext cx="11277600" cy="749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A5B2B"/>
                </a:solidFill>
                <a:latin typeface="Heiti SC"/>
                <a:ea typeface="Heiti SC"/>
              </a:rPr>
              <a:t>成本陷阱：回放一个 token 也可能要重建整个 prefix / KV。</a:t>
            </a:r>
          </a:p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A5B2B"/>
                </a:solidFill>
                <a:latin typeface="Heiti SC"/>
                <a:ea typeface="Heiti SC"/>
              </a:rPr>
              <a:t>信任陷阱：未知执行类别不能只凭 provider 自报来缩小。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676900"/>
            <a:ext cx="11277600" cy="419100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600" y="5753100"/>
            <a:ext cx="109728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864CF"/>
                </a:solidFill>
                <a:latin typeface="Heiti SC"/>
                <a:ea typeface="Heiti SC"/>
              </a:rPr>
              <a:t>要同时报告检测能力、拒判率、参考 GPU 时间，以及缓存与校准成本。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7F82"/>
                </a:solidFill>
                <a:latin typeface="Arial"/>
                <a:ea typeface="Heiti SC"/>
              </a:rPr>
              <a:t>INFERENCE VERIFICATION  /  SYSTEMS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279400"/>
            <a:ext cx="218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C7C"/>
                </a:solidFill>
                <a:latin typeface="Heiti SC"/>
                <a:ea typeface="Heiti SC"/>
              </a:rPr>
              <a:t>机制对照 / 待补因果证据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2000"/>
            <a:ext cx="11277600" cy="97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把系统知识变成干预实验；</a:t>
            </a:r>
          </a:p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clock 暂作辅助证据。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5300"/>
            <a:ext cx="11277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现有调度与缓存结果有价值，但尚未证明跨部署可辨识的 timing 签名。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73800"/>
            <a:ext cx="11277600" cy="0"/>
          </a:xfrm>
          <a:prstGeom prst="line">
            <a:avLst/>
          </a:prstGeom>
          <a:ln w="1270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375400"/>
            <a:ext cx="1079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7C"/>
                </a:solidFill>
                <a:latin typeface="Arial"/>
                <a:ea typeface="Heiti SC"/>
              </a:rPr>
              <a:t>vLLM / FlashInfer docs  |  Sarathi-Serve (2024)  |  FlashAttention-4 (2026)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04000"/>
            <a:ext cx="10541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C7C"/>
                </a:solidFill>
                <a:latin typeface="Arial"/>
                <a:ea typeface="Heiti SC"/>
              </a:rPr>
              <a:t>2026-10-20  ·  archived through 2026-10-19  ·  57ceb5e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0" y="6502400"/>
            <a:ext cx="431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Arial"/>
                <a:ea typeface="Heiti SC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01900"/>
            <a:ext cx="11277600" cy="812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300" y="2641600"/>
            <a:ext cx="30988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64CF"/>
                </a:solidFill>
                <a:latin typeface="Heiti SC"/>
                <a:ea typeface="Heiti SC"/>
                <a:hlinkClick r:id="rId3"/>
              </a:rPr>
              <a:t>vLLM / FlashInfer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0800" y="2641600"/>
            <a:ext cx="41021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C40"/>
                </a:solidFill>
                <a:latin typeface="Heiti SC"/>
                <a:ea typeface="Heiti SC"/>
              </a:rPr>
              <a:t>固定 batch 归约或 split-KV 合并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3400" y="2641600"/>
            <a:ext cx="33909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C7C"/>
                </a:solidFill>
                <a:latin typeface="Heiti SC"/>
                <a:ea typeface="Heiti SC"/>
              </a:rPr>
              <a:t>数值差异能否随干预消失？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16300"/>
            <a:ext cx="11277600" cy="812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300" y="3556000"/>
            <a:ext cx="30988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64CF"/>
                </a:solidFill>
                <a:latin typeface="Heiti SC"/>
                <a:ea typeface="Heiti SC"/>
                <a:hlinkClick r:id="rId4"/>
              </a:rPr>
              <a:t>Sarathi-Serve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0800" y="3556000"/>
            <a:ext cx="41021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C40"/>
                </a:solidFill>
                <a:latin typeface="Heiti SC"/>
                <a:ea typeface="Heiti SC"/>
              </a:rPr>
              <a:t>chunked prefill 与 decode 交错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3400" y="3556000"/>
            <a:ext cx="33909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C7C"/>
                </a:solidFill>
                <a:latin typeface="Heiti SC"/>
                <a:ea typeface="Heiti SC"/>
              </a:rPr>
              <a:t>13 → 4 次混合迭代是否解释早窗？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330700"/>
            <a:ext cx="11277600" cy="812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300" y="4470400"/>
            <a:ext cx="30988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64CF"/>
                </a:solidFill>
                <a:latin typeface="Heiti SC"/>
                <a:ea typeface="Heiti SC"/>
                <a:hlinkClick r:id="rId5"/>
              </a:rPr>
              <a:t>FlashAttention-4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60800" y="4470400"/>
            <a:ext cx="41021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C40"/>
                </a:solidFill>
                <a:latin typeface="Heiti SC"/>
                <a:ea typeface="Heiti SC"/>
              </a:rPr>
              <a:t>TMEM、异步 MMA、softmax / exp 瓶颈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3400" y="4470400"/>
            <a:ext cx="33909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C7C"/>
                </a:solidFill>
                <a:latin typeface="Heiti SC"/>
                <a:ea typeface="Heiti SC"/>
              </a:rPr>
              <a:t>避免只用逻辑字节数解释 timing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562600"/>
            <a:ext cx="11277600" cy="368300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5638800"/>
            <a:ext cx="109728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2864CF"/>
                </a:solidFill>
                <a:latin typeface="Heiti SC"/>
                <a:ea typeface="Heiti SC"/>
              </a:rPr>
              <a:t>尚缺硬件计数器与充分的单因素控制；量化加速、纯带宽模型都不能预设。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019800"/>
            <a:ext cx="101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64CF"/>
                </a:solidFill>
                <a:latin typeface="Arial"/>
                <a:ea typeface="Heiti SC"/>
                <a:hlinkClick r:id="rId6"/>
              </a:rPr>
              <a:t>vLLM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51000" y="6019800"/>
            <a:ext cx="101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64CF"/>
                </a:solidFill>
                <a:latin typeface="Arial"/>
                <a:ea typeface="Heiti SC"/>
                <a:hlinkClick r:id="rId3"/>
              </a:rPr>
              <a:t>FlashInfer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44800" y="6019800"/>
            <a:ext cx="1549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864CF"/>
                </a:solidFill>
                <a:latin typeface="Arial"/>
                <a:ea typeface="Heiti SC"/>
                <a:hlinkClick r:id="rId5"/>
              </a:rPr>
              <a:t>FlashAttention-4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7F82"/>
                </a:solidFill>
                <a:latin typeface="Arial"/>
                <a:ea typeface="Heiti SC"/>
              </a:rPr>
              <a:t>INFERENCE VERIFICATION  /  GO / NO-GO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279400"/>
            <a:ext cx="218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C7C"/>
                </a:solidFill>
                <a:latin typeface="Heiti SC"/>
                <a:ea typeface="Heiti SC"/>
              </a:rPr>
              <a:t>下一轮实验计划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2000"/>
            <a:ext cx="11277600" cy="97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先做三组能决定方向的实验。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5300"/>
            <a:ext cx="11277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收益必须在相同信息条件、相同误报约束和独立测试上成立。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73800"/>
            <a:ext cx="11277600" cy="0"/>
          </a:xfrm>
          <a:prstGeom prst="line">
            <a:avLst/>
          </a:prstGeom>
          <a:ln w="1270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375400"/>
            <a:ext cx="1079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7C"/>
                </a:solidFill>
                <a:latin typeface="Arial"/>
                <a:ea typeface="Heiti SC"/>
              </a:rPr>
              <a:t>proposed experiments; no new GPU jobs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04000"/>
            <a:ext cx="10541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C7C"/>
                </a:solidFill>
                <a:latin typeface="Arial"/>
                <a:ea typeface="Heiti SC"/>
              </a:rPr>
              <a:t>2026-10-20  ·  archived through 2026-10-19  ·  57ceb5e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0" y="6502400"/>
            <a:ext cx="431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Arial"/>
                <a:ea typeface="Heiti SC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51100"/>
            <a:ext cx="112776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755900"/>
            <a:ext cx="6223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2"/>
                </a:solidFill>
                <a:latin typeface="Arial"/>
                <a:ea typeface="Heiti SC"/>
              </a:rPr>
              <a:t>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4300" y="2565400"/>
            <a:ext cx="41148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C40"/>
                </a:solidFill>
                <a:latin typeface="Heiti SC"/>
                <a:ea typeface="Heiti SC"/>
              </a:rPr>
              <a:t>定位 49 个 BF16 封顶事件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13400" y="2565400"/>
            <a:ext cx="5905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86C7C"/>
                </a:solidFill>
                <a:latin typeface="Heiti SC"/>
                <a:ea typeface="Heiti SC"/>
              </a:rPr>
              <a:t>记录两端 logits、候选集、边界、margin；先对齐采样协议。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3400" y="2997200"/>
            <a:ext cx="5905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087F82"/>
                </a:solidFill>
                <a:latin typeface="Heiti SC"/>
                <a:ea typeface="Heiti SC"/>
              </a:rPr>
              <a:t>若主要是协议差异 → 修复并重跑基线，不宣称硬件创新。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92500"/>
            <a:ext cx="112776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3797300"/>
            <a:ext cx="6223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64CF"/>
                </a:solidFill>
                <a:latin typeface="Arial"/>
                <a:ea typeface="Heiti SC"/>
              </a:rPr>
              <a:t>P1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4300" y="3606800"/>
            <a:ext cx="41148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C40"/>
                </a:solidFill>
                <a:latin typeface="Heiti SC"/>
                <a:ea typeface="Heiti SC"/>
              </a:rPr>
              <a:t>冻结输入，只干预一个数值机制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13400" y="3606800"/>
            <a:ext cx="5905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86C7C"/>
                </a:solidFill>
                <a:latin typeface="Heiti SC"/>
                <a:ea typeface="Heiti SC"/>
              </a:rPr>
              <a:t>GEMM shape / 归约 / attention split；用确定性路径作对照。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3400" y="4038600"/>
            <a:ext cx="5905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864CF"/>
                </a:solidFill>
                <a:latin typeface="Heiti SC"/>
                <a:ea typeface="Heiti SC"/>
              </a:rPr>
              <a:t>若误差与具体机制关联很弱 → 不扩展昂贵的全栈建模。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33900"/>
            <a:ext cx="112776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4838700"/>
            <a:ext cx="6223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A5B2B"/>
                </a:solidFill>
                <a:latin typeface="Arial"/>
                <a:ea typeface="Heiti SC"/>
              </a:rPr>
              <a:t>P2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4300" y="4648200"/>
            <a:ext cx="41148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C40"/>
                </a:solidFill>
                <a:latin typeface="Heiti SC"/>
                <a:ea typeface="Heiti SC"/>
              </a:rPr>
              <a:t>测能力—成本曲线与消融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13400" y="4648200"/>
            <a:ext cx="5905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86C7C"/>
                </a:solidFill>
                <a:latin typeface="Heiti SC"/>
                <a:ea typeface="Heiti SC"/>
              </a:rPr>
              <a:t>DiFR 各变体、完整回放、候选方法；真实 NF4 / INT8。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3400" y="5080000"/>
            <a:ext cx="5905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BA5B2B"/>
                </a:solidFill>
                <a:latin typeface="Heiti SC"/>
                <a:ea typeface="Heiti SC"/>
              </a:rPr>
              <a:t>若同时抹掉攻击信号，或复算不省成本 → 该主线失败。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765800"/>
            <a:ext cx="11277600" cy="368300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5842000"/>
            <a:ext cx="109728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2864CF"/>
                </a:solidFill>
                <a:latin typeface="Heiti SC"/>
                <a:ea typeface="Heiti SC"/>
              </a:rPr>
              <a:t>指标：逐条件 FPR 上界、TPR、拒判率、审计 GPU 时间；新语料与独立 session。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7F82"/>
                </a:solidFill>
                <a:latin typeface="Arial"/>
                <a:ea typeface="Heiti SC"/>
              </a:rPr>
              <a:t>INFERENCE VERIFICATION  /  REVISED PAPER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279400"/>
            <a:ext cx="218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C7C"/>
                </a:solidFill>
                <a:latin typeface="Heiti SC"/>
                <a:ea typeface="Heiti SC"/>
              </a:rPr>
              <a:t>论文主线 / 待证命题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2000"/>
            <a:ext cx="11277600" cy="97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论文围绕一个问题写：</a:t>
            </a:r>
          </a:p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C40"/>
                </a:solidFill>
                <a:latin typeface="Heiti SC"/>
                <a:ea typeface="Heiti SC"/>
              </a:rPr>
              <a:t>能否既容忍合法 BF16，又保留量化信号？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5300"/>
            <a:ext cx="11277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暂定方向：Sampling-Aware Verification of BF16 Inference under Execution Variability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273800"/>
            <a:ext cx="11277600" cy="0"/>
          </a:xfrm>
          <a:prstGeom prst="line">
            <a:avLst/>
          </a:prstGeom>
          <a:ln w="1270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375400"/>
            <a:ext cx="1079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C7C"/>
                </a:solidFill>
                <a:latin typeface="Arial"/>
                <a:ea typeface="Heiti SC"/>
              </a:rPr>
              <a:t>planning/BF16_TECHNICAL_NOVELTY.md  |  technical supplement,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04000"/>
            <a:ext cx="10541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C7C"/>
                </a:solidFill>
                <a:latin typeface="Arial"/>
                <a:ea typeface="Heiti SC"/>
              </a:rPr>
              <a:t>2026-10-20  ·  archived through 2026-10-19  ·  57ceb5e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0" y="6502400"/>
            <a:ext cx="431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Arial"/>
                <a:ea typeface="Heiti SC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40000"/>
            <a:ext cx="3657600" cy="248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2743200"/>
            <a:ext cx="32639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7F82"/>
                </a:solidFill>
                <a:latin typeface="Arial"/>
                <a:ea typeface="Heiti SC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3263900"/>
            <a:ext cx="32639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2C40"/>
                </a:solidFill>
                <a:latin typeface="Heiti SC"/>
                <a:ea typeface="Heiti SC"/>
              </a:rPr>
              <a:t>解释误报的来源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3898900"/>
            <a:ext cx="3263900" cy="952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协议控制 → 过滤边界 → 硬件机制</a:t>
            </a:r>
          </a:p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不要只展示“不同 GPU 有差异”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200" y="2540000"/>
            <a:ext cx="3657600" cy="248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700" y="2743200"/>
            <a:ext cx="32639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864CF"/>
                </a:solidFill>
                <a:latin typeface="Arial"/>
                <a:ea typeface="Heiti SC"/>
              </a:rPr>
              <a:t>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0" y="3263900"/>
            <a:ext cx="32639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2C40"/>
                </a:solidFill>
                <a:latin typeface="Heiti SC"/>
                <a:ea typeface="Heiti SC"/>
              </a:rPr>
              <a:t>提出新的判据与实现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7700" y="3898900"/>
            <a:ext cx="3263900" cy="952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候选集感知 + 受约束误差模型</a:t>
            </a:r>
          </a:p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歧义驱动复算，明确成本与适用范</a:t>
            </a:r>
          </a:p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7200" y="2540000"/>
            <a:ext cx="3657600" cy="248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7700" y="2743200"/>
            <a:ext cx="32639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A5B2B"/>
                </a:solidFill>
                <a:latin typeface="Arial"/>
                <a:ea typeface="Heiti SC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7700" y="3263900"/>
            <a:ext cx="32639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2C40"/>
                </a:solidFill>
                <a:latin typeface="Heiti SC"/>
                <a:ea typeface="Heiti SC"/>
              </a:rPr>
              <a:t>验证独立增益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7700" y="3898900"/>
            <a:ext cx="3263900" cy="952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固定 FPR，比 TPR / GPU 时间</a:t>
            </a:r>
          </a:p>
          <a:p>
            <a:pPr algn="l"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C7C"/>
                </a:solidFill>
                <a:latin typeface="Heiti SC"/>
                <a:ea typeface="Heiti SC"/>
              </a:rPr>
              <a:t>真实量化 + 合法执行变化 + 消融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283200"/>
            <a:ext cx="11277600" cy="419100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5359400"/>
            <a:ext cx="109728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864CF"/>
                </a:solidFill>
                <a:latin typeface="Heiti SC"/>
                <a:ea typeface="Heiti SC"/>
              </a:rPr>
              <a:t>目前可以写问题和机制；核心方法与收益必须靠下一轮实验决定，不能预写结论。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05500"/>
            <a:ext cx="1127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86C7C"/>
                </a:solidFill>
                <a:latin typeface="Heiti SC"/>
                <a:ea typeface="Heiti SC"/>
              </a:rPr>
              <a:t>已交付：技术评审、最新文献对照、离线分数诊断与 10 页可编辑 slides。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Inference Verification | BF16 与技术创新</dc:title>
  <dc:subject>截至 2026-10-20 的归档结果、论文结构和待验证方案</dc:subject>
  <dc:creator>inference-verification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